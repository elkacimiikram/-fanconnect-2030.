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Saluer le jury. Une phrase : FanConnect relie match, café et réservation, réalisé en stage chez GM-Soft Béni Mellal. Enchaîner sur l'entreprise, 40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max. Nom, siège Béni Mellal, solutions GM-CAFE. Ton rôle : full-stack + IA. Puis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métier, pas l'entreprise. CDM 2030, cafés saturés, pas d'outil. Lien GM-CAFE en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problématique une fois. Les trois axes structurent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Périmètre net : ce qui est livré ET ce qui est exclu.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TheFork est fort sur le resto, pas sur le jour de match. Le besoin est à l'intersection.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Cœur différenciant : EF04 à EF07. ENF à droite pour les questions sécurité /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clé : un User réserve une table d'un Business pour un FootballMatch. Scénario : login → match → reco → wizard → Stripe →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Navigateur → Spring → Postgres. Spring appelle Python pour l'IA. Stripe jamais en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Justifier 2 choix : Spring (sécurité, JPA) ; FastAPI à part pour le cycle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La démo montrera le parcours. Ici : preuve visuelle des 3 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Honnêteté : données synthétiques + signaux métier. Fallback si Python est down. OccupancyEngine mélange report owner (15 min) et réservations.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déjà ouverte. Comptes fan / owner / admin. Carte Stripe test 4242.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est livré, pas ce qui est promis. Validation = tests + recette des 3 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jury valorise les limites assumées. Ne pas promettre une prod 2030 déjà prête.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Refermer la boucle : relire la problématique (slide 4) et y répondre en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Rester debout. Répéter la question. Si vous ne savez pas : dire comment vous le mesureriez.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6A33"/>
          </a:solidFill>
          <a:ln/>
        </p:spPr>
      </p:sp>
      <p:sp>
        <p:nvSpPr>
          <p:cNvPr id="3" name="Text 1"/>
          <p:cNvSpPr/>
          <p:nvPr/>
        </p:nvSpPr>
        <p:spPr>
          <a:xfrm>
            <a:off x="640080" y="384048"/>
            <a:ext cx="7315200" cy="237744"/>
          </a:xfrm>
          <a:prstGeom prst="rect">
            <a:avLst/>
          </a:prstGeom>
          <a:noFill/>
          <a:ln/>
        </p:spPr>
        <p:txBody>
          <a:bodyPr wrap="square" lIns="0" tIns="0" rIns="0" bIns="0" rtlCol="0" anchor="ctr"/>
          <a:lstStyle/>
          <a:p>
            <a:pPr indent="0" marL="0">
              <a:buNone/>
            </a:pPr>
            <a:r>
              <a:rPr lang="en-US" sz="1200" spc="160" kern="0" dirty="0">
                <a:solidFill>
                  <a:srgbClr val="A7A79A"/>
                </a:solidFill>
                <a:latin typeface="Calibri" pitchFamily="34" charset="0"/>
                <a:ea typeface="Calibri" pitchFamily="34" charset="-122"/>
                <a:cs typeface="Calibri" pitchFamily="34" charset="-120"/>
              </a:rPr>
              <a:t>INSTITUT DE GÉNIE APPLIQUÉ   ·   CYCLE INGÉNIEUR 5DLTI</a:t>
            </a:r>
            <a:endParaRPr lang="en-US" sz="1200" dirty="0"/>
          </a:p>
        </p:txBody>
      </p:sp>
      <p:sp>
        <p:nvSpPr>
          <p:cNvPr id="4" name="Shape 2"/>
          <p:cNvSpPr/>
          <p:nvPr/>
        </p:nvSpPr>
        <p:spPr>
          <a:xfrm>
            <a:off x="640080" y="786384"/>
            <a:ext cx="4069080" cy="329184"/>
          </a:xfrm>
          <a:prstGeom prst="roundRect">
            <a:avLst>
              <a:gd name="adj" fmla="val 16667"/>
            </a:avLst>
          </a:prstGeom>
          <a:solidFill>
            <a:srgbClr val="2C4A2B"/>
          </a:solidFill>
          <a:ln/>
        </p:spPr>
      </p:sp>
      <p:sp>
        <p:nvSpPr>
          <p:cNvPr id="5" name="Text 3"/>
          <p:cNvSpPr/>
          <p:nvPr/>
        </p:nvSpPr>
        <p:spPr>
          <a:xfrm>
            <a:off x="640080" y="786384"/>
            <a:ext cx="4069080" cy="329184"/>
          </a:xfrm>
          <a:prstGeom prst="rect">
            <a:avLst/>
          </a:prstGeom>
          <a:noFill/>
          <a:ln/>
        </p:spPr>
        <p:txBody>
          <a:bodyPr wrap="square" lIns="0" tIns="0" rIns="0" bIns="0" rtlCol="0" anchor="ctr"/>
          <a:lstStyle/>
          <a:p>
            <a:pPr algn="ctr" indent="0" marL="0">
              <a:buNone/>
            </a:pPr>
            <a:r>
              <a:rPr lang="en-US" sz="1100" b="1" dirty="0">
                <a:solidFill>
                  <a:srgbClr val="EFE9D9"/>
                </a:solidFill>
                <a:latin typeface="Calibri" pitchFamily="34" charset="0"/>
                <a:ea typeface="Calibri" pitchFamily="34" charset="-122"/>
                <a:cs typeface="Calibri" pitchFamily="34" charset="-120"/>
              </a:rPr>
              <a:t>SOUTENANCE DE PFE  ·  2025 / 2026</a:t>
            </a:r>
            <a:endParaRPr lang="en-US" sz="1100" dirty="0"/>
          </a:p>
        </p:txBody>
      </p:sp>
      <p:sp>
        <p:nvSpPr>
          <p:cNvPr id="6" name="Text 4"/>
          <p:cNvSpPr/>
          <p:nvPr/>
        </p:nvSpPr>
        <p:spPr>
          <a:xfrm>
            <a:off x="640080" y="1298448"/>
            <a:ext cx="6766560" cy="731520"/>
          </a:xfrm>
          <a:prstGeom prst="rect">
            <a:avLst/>
          </a:prstGeom>
          <a:noFill/>
          <a:ln/>
        </p:spPr>
        <p:txBody>
          <a:bodyPr wrap="square" lIns="0" tIns="0" rIns="0" bIns="0" rtlCol="0" anchor="ctr"/>
          <a:lstStyle/>
          <a:p>
            <a:pPr indent="0" marL="0">
              <a:buNone/>
            </a:pPr>
            <a:r>
              <a:rPr lang="en-US" sz="3800" dirty="0">
                <a:solidFill>
                  <a:srgbClr val="EFE9D9"/>
                </a:solidFill>
                <a:latin typeface="Georgia" pitchFamily="34" charset="0"/>
                <a:ea typeface="Georgia" pitchFamily="34" charset="-122"/>
                <a:cs typeface="Georgia" pitchFamily="34" charset="-120"/>
              </a:rPr>
              <a:t>FanConnect 2030</a:t>
            </a:r>
            <a:endParaRPr lang="en-US" sz="3800" dirty="0"/>
          </a:p>
        </p:txBody>
      </p:sp>
      <p:sp>
        <p:nvSpPr>
          <p:cNvPr id="7" name="Text 5"/>
          <p:cNvSpPr/>
          <p:nvPr/>
        </p:nvSpPr>
        <p:spPr>
          <a:xfrm>
            <a:off x="640080" y="2084832"/>
            <a:ext cx="6583680" cy="777240"/>
          </a:xfrm>
          <a:prstGeom prst="rect">
            <a:avLst/>
          </a:prstGeom>
          <a:noFill/>
          <a:ln/>
        </p:spPr>
        <p:txBody>
          <a:bodyPr wrap="square" lIns="0" tIns="0" rIns="0" bIns="0" rtlCol="0" anchor="ctr"/>
          <a:lstStyle/>
          <a:p>
            <a:pPr indent="0" marL="0">
              <a:buNone/>
            </a:pPr>
            <a:r>
              <a:rPr lang="en-US" sz="1600" dirty="0">
                <a:solidFill>
                  <a:srgbClr val="C9C4B4"/>
                </a:solidFill>
                <a:latin typeface="Calibri" pitchFamily="34" charset="0"/>
                <a:ea typeface="Calibri" pitchFamily="34" charset="-122"/>
                <a:cs typeface="Calibri" pitchFamily="34" charset="-120"/>
              </a:rPr>
              <a:t>Plateforme intelligente de réservation de cafés</a:t>
            </a:r>
            <a:endParaRPr lang="en-US" sz="1600" dirty="0"/>
          </a:p>
          <a:p>
            <a:pPr indent="0" marL="0">
              <a:buNone/>
            </a:pPr>
            <a:r>
              <a:rPr lang="en-US" sz="1600" dirty="0">
                <a:solidFill>
                  <a:srgbClr val="C9C4B4"/>
                </a:solidFill>
                <a:latin typeface="Calibri" pitchFamily="34" charset="0"/>
                <a:ea typeface="Calibri" pitchFamily="34" charset="-122"/>
                <a:cs typeface="Calibri" pitchFamily="34" charset="-120"/>
              </a:rPr>
              <a:t>pour regarder les matchs — Coupe du Monde 2030</a:t>
            </a:r>
            <a:endParaRPr lang="en-US" sz="1600" dirty="0"/>
          </a:p>
        </p:txBody>
      </p:sp>
      <p:pic>
        <p:nvPicPr>
          <p:cNvPr id="8" name="Image 0" descr="C:\Users\kassimi\Downloads\FanConnect-2030 (1)\FanConnect-2030\docs\rapport\ppt-assets\01-accueil-hero_16x9.jpg">    </p:cNvPr>
          <p:cNvPicPr>
            <a:picLocks noChangeAspect="1"/>
          </p:cNvPicPr>
          <p:nvPr/>
        </p:nvPicPr>
        <p:blipFill>
          <a:blip r:embed="rId1"/>
          <a:srcRect l="0" r="0" t="0" b="0"/>
          <a:stretch/>
        </p:blipFill>
        <p:spPr>
          <a:xfrm>
            <a:off x="7498080" y="1051560"/>
            <a:ext cx="4069080" cy="2288858"/>
          </a:xfrm>
          <a:prstGeom prst="rect">
            <a:avLst/>
          </a:prstGeom>
        </p:spPr>
      </p:pic>
      <p:sp>
        <p:nvSpPr>
          <p:cNvPr id="9" name="Shape 6"/>
          <p:cNvSpPr/>
          <p:nvPr/>
        </p:nvSpPr>
        <p:spPr>
          <a:xfrm>
            <a:off x="640080" y="4160520"/>
            <a:ext cx="6583680" cy="0"/>
          </a:xfrm>
          <a:prstGeom prst="line">
            <a:avLst/>
          </a:prstGeom>
          <a:noFill/>
          <a:ln w="9525">
            <a:solidFill>
              <a:srgbClr val="2A3530"/>
            </a:solidFill>
            <a:prstDash val="solid"/>
          </a:ln>
        </p:spPr>
      </p:sp>
      <p:sp>
        <p:nvSpPr>
          <p:cNvPr id="10" name="Text 7"/>
          <p:cNvSpPr/>
          <p:nvPr/>
        </p:nvSpPr>
        <p:spPr>
          <a:xfrm>
            <a:off x="640080" y="4370832"/>
            <a:ext cx="3520440" cy="182880"/>
          </a:xfrm>
          <a:prstGeom prst="rect">
            <a:avLst/>
          </a:prstGeom>
          <a:noFill/>
          <a:ln/>
        </p:spPr>
        <p:txBody>
          <a:bodyPr wrap="square" lIns="0" tIns="0" rIns="0" bIns="0" rtlCol="0" anchor="ctr"/>
          <a:lstStyle/>
          <a:p>
            <a:pPr indent="0" marL="0">
              <a:buNone/>
            </a:pPr>
            <a:r>
              <a:rPr lang="en-US" sz="1000" spc="130" kern="0" dirty="0">
                <a:solidFill>
                  <a:srgbClr val="A7A79A"/>
                </a:solidFill>
                <a:latin typeface="Calibri" pitchFamily="34" charset="0"/>
                <a:ea typeface="Calibri" pitchFamily="34" charset="-122"/>
                <a:cs typeface="Calibri" pitchFamily="34" charset="-120"/>
              </a:rPr>
              <a:t>PRÉSENTÉ PAR</a:t>
            </a:r>
            <a:endParaRPr lang="en-US" sz="1000" dirty="0"/>
          </a:p>
        </p:txBody>
      </p:sp>
      <p:sp>
        <p:nvSpPr>
          <p:cNvPr id="11" name="Text 8"/>
          <p:cNvSpPr/>
          <p:nvPr/>
        </p:nvSpPr>
        <p:spPr>
          <a:xfrm>
            <a:off x="640080" y="4590288"/>
            <a:ext cx="3520440" cy="292608"/>
          </a:xfrm>
          <a:prstGeom prst="rect">
            <a:avLst/>
          </a:prstGeom>
          <a:noFill/>
          <a:ln/>
        </p:spPr>
        <p:txBody>
          <a:bodyPr wrap="square" lIns="0" tIns="0" rIns="0" bIns="0" rtlCol="0" anchor="ctr"/>
          <a:lstStyle/>
          <a:p>
            <a:pPr indent="0" marL="0">
              <a:buNone/>
            </a:pPr>
            <a:r>
              <a:rPr lang="en-US" sz="1500" b="1" dirty="0">
                <a:solidFill>
                  <a:srgbClr val="EFE9D9"/>
                </a:solidFill>
                <a:latin typeface="Calibri" pitchFamily="34" charset="0"/>
                <a:ea typeface="Calibri" pitchFamily="34" charset="-122"/>
                <a:cs typeface="Calibri" pitchFamily="34" charset="-120"/>
              </a:rPr>
              <a:t>Kassimi</a:t>
            </a:r>
            <a:endParaRPr lang="en-US" sz="1500" dirty="0"/>
          </a:p>
        </p:txBody>
      </p:sp>
      <p:sp>
        <p:nvSpPr>
          <p:cNvPr id="12" name="Text 9"/>
          <p:cNvSpPr/>
          <p:nvPr/>
        </p:nvSpPr>
        <p:spPr>
          <a:xfrm>
            <a:off x="4343400" y="4370832"/>
            <a:ext cx="3520440" cy="182880"/>
          </a:xfrm>
          <a:prstGeom prst="rect">
            <a:avLst/>
          </a:prstGeom>
          <a:noFill/>
          <a:ln/>
        </p:spPr>
        <p:txBody>
          <a:bodyPr wrap="square" lIns="0" tIns="0" rIns="0" bIns="0" rtlCol="0" anchor="ctr"/>
          <a:lstStyle/>
          <a:p>
            <a:pPr indent="0" marL="0">
              <a:buNone/>
            </a:pPr>
            <a:r>
              <a:rPr lang="en-US" sz="1000" spc="130" kern="0" dirty="0">
                <a:solidFill>
                  <a:srgbClr val="A7A79A"/>
                </a:solidFill>
                <a:latin typeface="Calibri" pitchFamily="34" charset="0"/>
                <a:ea typeface="Calibri" pitchFamily="34" charset="-122"/>
                <a:cs typeface="Calibri" pitchFamily="34" charset="-120"/>
              </a:rPr>
              <a:t>ENCADRANT</a:t>
            </a:r>
            <a:endParaRPr lang="en-US" sz="1000" dirty="0"/>
          </a:p>
        </p:txBody>
      </p:sp>
      <p:sp>
        <p:nvSpPr>
          <p:cNvPr id="13" name="Text 10"/>
          <p:cNvSpPr/>
          <p:nvPr/>
        </p:nvSpPr>
        <p:spPr>
          <a:xfrm>
            <a:off x="4343400" y="4590288"/>
            <a:ext cx="3520440" cy="292608"/>
          </a:xfrm>
          <a:prstGeom prst="rect">
            <a:avLst/>
          </a:prstGeom>
          <a:noFill/>
          <a:ln/>
        </p:spPr>
        <p:txBody>
          <a:bodyPr wrap="square" lIns="0" tIns="0" rIns="0" bIns="0" rtlCol="0" anchor="ctr"/>
          <a:lstStyle/>
          <a:p>
            <a:pPr indent="0" marL="0">
              <a:buNone/>
            </a:pPr>
            <a:r>
              <a:rPr lang="en-US" sz="1500" b="1" dirty="0">
                <a:solidFill>
                  <a:srgbClr val="EFE9D9"/>
                </a:solidFill>
                <a:latin typeface="Calibri" pitchFamily="34" charset="0"/>
                <a:ea typeface="Calibri" pitchFamily="34" charset="-122"/>
                <a:cs typeface="Calibri" pitchFamily="34" charset="-120"/>
              </a:rPr>
              <a:t>M. Bouchib Riyami</a:t>
            </a:r>
            <a:endParaRPr lang="en-US" sz="1500" dirty="0"/>
          </a:p>
        </p:txBody>
      </p:sp>
      <p:sp>
        <p:nvSpPr>
          <p:cNvPr id="14" name="Text 11"/>
          <p:cNvSpPr/>
          <p:nvPr/>
        </p:nvSpPr>
        <p:spPr>
          <a:xfrm>
            <a:off x="8046720" y="4370832"/>
            <a:ext cx="3520440" cy="182880"/>
          </a:xfrm>
          <a:prstGeom prst="rect">
            <a:avLst/>
          </a:prstGeom>
          <a:noFill/>
          <a:ln/>
        </p:spPr>
        <p:txBody>
          <a:bodyPr wrap="square" lIns="0" tIns="0" rIns="0" bIns="0" rtlCol="0" anchor="ctr"/>
          <a:lstStyle/>
          <a:p>
            <a:pPr indent="0" marL="0">
              <a:buNone/>
            </a:pPr>
            <a:r>
              <a:rPr lang="en-US" sz="1000" spc="130" kern="0" dirty="0">
                <a:solidFill>
                  <a:srgbClr val="A7A79A"/>
                </a:solidFill>
                <a:latin typeface="Calibri" pitchFamily="34" charset="0"/>
                <a:ea typeface="Calibri" pitchFamily="34" charset="-122"/>
                <a:cs typeface="Calibri" pitchFamily="34" charset="-120"/>
              </a:rPr>
              <a:t>ORGANISME</a:t>
            </a:r>
            <a:endParaRPr lang="en-US" sz="1000" dirty="0"/>
          </a:p>
        </p:txBody>
      </p:sp>
      <p:sp>
        <p:nvSpPr>
          <p:cNvPr id="15" name="Text 12"/>
          <p:cNvSpPr/>
          <p:nvPr/>
        </p:nvSpPr>
        <p:spPr>
          <a:xfrm>
            <a:off x="8046720" y="4590288"/>
            <a:ext cx="3520440" cy="292608"/>
          </a:xfrm>
          <a:prstGeom prst="rect">
            <a:avLst/>
          </a:prstGeom>
          <a:noFill/>
          <a:ln/>
        </p:spPr>
        <p:txBody>
          <a:bodyPr wrap="square" lIns="0" tIns="0" rIns="0" bIns="0" rtlCol="0" anchor="ctr"/>
          <a:lstStyle/>
          <a:p>
            <a:pPr indent="0" marL="0">
              <a:buNone/>
            </a:pPr>
            <a:r>
              <a:rPr lang="en-US" sz="1500" b="1" dirty="0">
                <a:solidFill>
                  <a:srgbClr val="EFE9D9"/>
                </a:solidFill>
                <a:latin typeface="Calibri" pitchFamily="34" charset="0"/>
                <a:ea typeface="Calibri" pitchFamily="34" charset="-122"/>
                <a:cs typeface="Calibri" pitchFamily="34" charset="-120"/>
              </a:rPr>
              <a:t>GM-Soft  ·  Béni Mellal</a:t>
            </a:r>
            <a:endParaRPr lang="en-US" sz="1500" dirty="0"/>
          </a:p>
        </p:txBody>
      </p:sp>
      <p:sp>
        <p:nvSpPr>
          <p:cNvPr id="16" name="Text 13"/>
          <p:cNvSpPr/>
          <p:nvPr/>
        </p:nvSpPr>
        <p:spPr>
          <a:xfrm>
            <a:off x="640080" y="5989320"/>
            <a:ext cx="10972800" cy="256032"/>
          </a:xfrm>
          <a:prstGeom prst="rect">
            <a:avLst/>
          </a:prstGeom>
          <a:noFill/>
          <a:ln/>
        </p:spPr>
        <p:txBody>
          <a:bodyPr wrap="square" lIns="0" tIns="0" rIns="0" bIns="0" rtlCol="0" anchor="ctr"/>
          <a:lstStyle/>
          <a:p>
            <a:pPr indent="0" marL="0">
              <a:buNone/>
            </a:pPr>
            <a:r>
              <a:rPr lang="en-US" sz="1300" dirty="0">
                <a:solidFill>
                  <a:srgbClr val="A7A79A"/>
                </a:solidFill>
                <a:latin typeface="Calibri" pitchFamily="34" charset="0"/>
                <a:ea typeface="Calibri" pitchFamily="34" charset="-122"/>
                <a:cs typeface="Calibri" pitchFamily="34" charset="-120"/>
              </a:rPr>
              <a:t>Stage Pôle Développement  ·  Année universitaire 2025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ENTREPRISE D'ACCUEIL</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02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GM-Soft — German Moroccan Software</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3794760" cy="3246120"/>
          </a:xfrm>
          <a:prstGeom prst="roundRect">
            <a:avLst>
              <a:gd name="adj" fmla="val 2254"/>
            </a:avLst>
          </a:prstGeom>
          <a:solidFill>
            <a:srgbClr val="2C4A2B"/>
          </a:solidFill>
          <a:ln/>
          <a:effectLst>
            <a:outerShdw sx="100000" sy="100000" kx="0" ky="0" algn="bl" rotWithShape="0" blurRad="101600" dist="25400" dir="8100000">
              <a:srgbClr val="000000">
                <a:alpha val="10000"/>
              </a:srgbClr>
            </a:outerShdw>
          </a:effectLst>
        </p:spPr>
      </p:sp>
      <p:sp>
        <p:nvSpPr>
          <p:cNvPr id="8" name="Shape 6"/>
          <p:cNvSpPr/>
          <p:nvPr/>
        </p:nvSpPr>
        <p:spPr>
          <a:xfrm>
            <a:off x="896112" y="1417320"/>
            <a:ext cx="1051560" cy="1051560"/>
          </a:xfrm>
          <a:prstGeom prst="roundRect">
            <a:avLst>
              <a:gd name="adj" fmla="val 10435"/>
            </a:avLst>
          </a:prstGeom>
          <a:solidFill>
            <a:srgbClr val="3B5D3A"/>
          </a:solidFill>
          <a:ln/>
        </p:spPr>
      </p:sp>
      <p:sp>
        <p:nvSpPr>
          <p:cNvPr id="9" name="Text 7"/>
          <p:cNvSpPr/>
          <p:nvPr/>
        </p:nvSpPr>
        <p:spPr>
          <a:xfrm>
            <a:off x="896112" y="1417320"/>
            <a:ext cx="1051560" cy="1051560"/>
          </a:xfrm>
          <a:prstGeom prst="rect">
            <a:avLst/>
          </a:prstGeom>
          <a:noFill/>
          <a:ln/>
        </p:spPr>
        <p:txBody>
          <a:bodyPr wrap="square" lIns="0" tIns="0" rIns="0" bIns="0" rtlCol="0" anchor="ctr"/>
          <a:lstStyle/>
          <a:p>
            <a:pPr algn="ctr" indent="0" marL="0">
              <a:buNone/>
            </a:pPr>
            <a:r>
              <a:rPr lang="en-US" sz="2200" dirty="0">
                <a:solidFill>
                  <a:srgbClr val="EFE9D9"/>
                </a:solidFill>
                <a:latin typeface="Georgia" pitchFamily="34" charset="0"/>
                <a:ea typeface="Georgia" pitchFamily="34" charset="-122"/>
                <a:cs typeface="Georgia" pitchFamily="34" charset="-120"/>
              </a:rPr>
              <a:t>GM</a:t>
            </a:r>
            <a:endParaRPr lang="en-US" sz="2200" dirty="0"/>
          </a:p>
        </p:txBody>
      </p:sp>
      <p:sp>
        <p:nvSpPr>
          <p:cNvPr id="10" name="Text 8"/>
          <p:cNvSpPr/>
          <p:nvPr/>
        </p:nvSpPr>
        <p:spPr>
          <a:xfrm>
            <a:off x="2057400" y="1554480"/>
            <a:ext cx="2148840" cy="411480"/>
          </a:xfrm>
          <a:prstGeom prst="rect">
            <a:avLst/>
          </a:prstGeom>
          <a:noFill/>
          <a:ln/>
        </p:spPr>
        <p:txBody>
          <a:bodyPr wrap="square" lIns="0" tIns="0" rIns="0" bIns="0" rtlCol="0" anchor="ctr"/>
          <a:lstStyle/>
          <a:p>
            <a:pPr indent="0" marL="0">
              <a:buNone/>
            </a:pPr>
            <a:r>
              <a:rPr lang="en-US" sz="2000" dirty="0">
                <a:solidFill>
                  <a:srgbClr val="EFE9D9"/>
                </a:solidFill>
                <a:latin typeface="Georgia" pitchFamily="34" charset="0"/>
                <a:ea typeface="Georgia" pitchFamily="34" charset="-122"/>
                <a:cs typeface="Georgia" pitchFamily="34" charset="-120"/>
              </a:rPr>
              <a:t>GM-SOFT</a:t>
            </a:r>
            <a:endParaRPr lang="en-US" sz="2000" dirty="0"/>
          </a:p>
        </p:txBody>
      </p:sp>
      <p:sp>
        <p:nvSpPr>
          <p:cNvPr id="11" name="Text 9"/>
          <p:cNvSpPr/>
          <p:nvPr/>
        </p:nvSpPr>
        <p:spPr>
          <a:xfrm>
            <a:off x="2057400" y="1993392"/>
            <a:ext cx="2148840" cy="256032"/>
          </a:xfrm>
          <a:prstGeom prst="rect">
            <a:avLst/>
          </a:prstGeom>
          <a:noFill/>
          <a:ln/>
        </p:spPr>
        <p:txBody>
          <a:bodyPr wrap="square" lIns="0" tIns="0" rIns="0" bIns="0" rtlCol="0" anchor="ctr"/>
          <a:lstStyle/>
          <a:p>
            <a:pPr indent="0" marL="0">
              <a:buNone/>
            </a:pPr>
            <a:r>
              <a:rPr lang="en-US" sz="1200" dirty="0">
                <a:solidFill>
                  <a:srgbClr val="7A9A6A"/>
                </a:solidFill>
                <a:latin typeface="Calibri" pitchFamily="34" charset="0"/>
                <a:ea typeface="Calibri" pitchFamily="34" charset="-122"/>
                <a:cs typeface="Calibri" pitchFamily="34" charset="-120"/>
              </a:rPr>
              <a:t>Made in Germany</a:t>
            </a:r>
            <a:endParaRPr lang="en-US" sz="1200" dirty="0"/>
          </a:p>
        </p:txBody>
      </p:sp>
      <p:sp>
        <p:nvSpPr>
          <p:cNvPr id="12" name="Text 10"/>
          <p:cNvSpPr/>
          <p:nvPr/>
        </p:nvSpPr>
        <p:spPr>
          <a:xfrm>
            <a:off x="896112" y="2697480"/>
            <a:ext cx="3291840" cy="1417320"/>
          </a:xfrm>
          <a:prstGeom prst="rect">
            <a:avLst/>
          </a:prstGeom>
          <a:noFill/>
          <a:ln/>
        </p:spPr>
        <p:txBody>
          <a:bodyPr wrap="square" lIns="0" tIns="0" rIns="0" bIns="0" rtlCol="0" anchor="ctr"/>
          <a:lstStyle/>
          <a:p>
            <a:pPr indent="0" marL="0">
              <a:buNone/>
            </a:pPr>
            <a:r>
              <a:rPr lang="en-US" sz="1400" dirty="0">
                <a:solidFill>
                  <a:srgbClr val="C9C4B4"/>
                </a:solidFill>
                <a:latin typeface="Calibri" pitchFamily="34" charset="0"/>
                <a:ea typeface="Calibri" pitchFamily="34" charset="-122"/>
                <a:cs typeface="Calibri" pitchFamily="34" charset="-120"/>
              </a:rPr>
              <a:t>SSII maroco-allemande.</a:t>
            </a:r>
            <a:endParaRPr lang="en-US" sz="1400" dirty="0"/>
          </a:p>
          <a:p>
            <a:pPr indent="0" marL="0">
              <a:buNone/>
            </a:pPr>
            <a:r>
              <a:rPr lang="en-US" sz="1400" dirty="0">
                <a:solidFill>
                  <a:srgbClr val="C9C4B4"/>
                </a:solidFill>
                <a:latin typeface="Calibri" pitchFamily="34" charset="0"/>
                <a:ea typeface="Calibri" pitchFamily="34" charset="-122"/>
                <a:cs typeface="Calibri" pitchFamily="34" charset="-120"/>
              </a:rPr>
              <a:t>Conception, intégration et évolution de logiciels métier (ERP, POS, café, hôtel, web / mobile).</a:t>
            </a:r>
            <a:endParaRPr lang="en-US" sz="1400" dirty="0"/>
          </a:p>
        </p:txBody>
      </p:sp>
      <p:sp>
        <p:nvSpPr>
          <p:cNvPr id="13" name="Shape 11"/>
          <p:cNvSpPr/>
          <p:nvPr/>
        </p:nvSpPr>
        <p:spPr>
          <a:xfrm>
            <a:off x="4663440" y="1207008"/>
            <a:ext cx="3474720" cy="1463040"/>
          </a:xfrm>
          <a:prstGeom prst="roundRect">
            <a:avLst>
              <a:gd name="adj" fmla="val 5000"/>
            </a:avLst>
          </a:prstGeom>
          <a:solidFill>
            <a:srgbClr val="FFFFFF"/>
          </a:solidFill>
          <a:ln/>
          <a:effectLst>
            <a:outerShdw sx="100000" sy="100000" kx="0" ky="0" algn="bl" rotWithShape="0" blurRad="101600" dist="25400" dir="8100000">
              <a:srgbClr val="000000">
                <a:alpha val="10000"/>
              </a:srgbClr>
            </a:outerShdw>
          </a:effectLst>
        </p:spPr>
      </p:sp>
      <p:sp>
        <p:nvSpPr>
          <p:cNvPr id="14" name="Text 12"/>
          <p:cNvSpPr/>
          <p:nvPr/>
        </p:nvSpPr>
        <p:spPr>
          <a:xfrm>
            <a:off x="4864608" y="1408176"/>
            <a:ext cx="306324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Calibri" pitchFamily="34" charset="0"/>
                <a:ea typeface="Calibri" pitchFamily="34" charset="-122"/>
                <a:cs typeface="Calibri" pitchFamily="34" charset="-120"/>
              </a:rPr>
              <a:t>Siège</a:t>
            </a:r>
            <a:endParaRPr lang="en-US" sz="1200" dirty="0"/>
          </a:p>
        </p:txBody>
      </p:sp>
      <p:sp>
        <p:nvSpPr>
          <p:cNvPr id="15" name="Text 13"/>
          <p:cNvSpPr/>
          <p:nvPr/>
        </p:nvSpPr>
        <p:spPr>
          <a:xfrm>
            <a:off x="4864608" y="1737360"/>
            <a:ext cx="3063240" cy="68580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Béni Mellal — Bd Hassan II</a:t>
            </a:r>
            <a:endParaRPr lang="en-US" sz="1500" dirty="0"/>
          </a:p>
        </p:txBody>
      </p:sp>
      <p:sp>
        <p:nvSpPr>
          <p:cNvPr id="16" name="Shape 14"/>
          <p:cNvSpPr/>
          <p:nvPr/>
        </p:nvSpPr>
        <p:spPr>
          <a:xfrm>
            <a:off x="8275320" y="1207008"/>
            <a:ext cx="3474720" cy="1463040"/>
          </a:xfrm>
          <a:prstGeom prst="roundRect">
            <a:avLst>
              <a:gd name="adj" fmla="val 5000"/>
            </a:avLst>
          </a:prstGeom>
          <a:solidFill>
            <a:srgbClr val="FFFFFF"/>
          </a:solidFill>
          <a:ln/>
          <a:effectLst>
            <a:outerShdw sx="100000" sy="100000" kx="0" ky="0" algn="bl" rotWithShape="0" blurRad="101600" dist="25400" dir="8100000">
              <a:srgbClr val="000000">
                <a:alpha val="10000"/>
              </a:srgbClr>
            </a:outerShdw>
          </a:effectLst>
        </p:spPr>
      </p:sp>
      <p:sp>
        <p:nvSpPr>
          <p:cNvPr id="17" name="Text 15"/>
          <p:cNvSpPr/>
          <p:nvPr/>
        </p:nvSpPr>
        <p:spPr>
          <a:xfrm>
            <a:off x="8476488" y="1408176"/>
            <a:ext cx="306324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Calibri" pitchFamily="34" charset="0"/>
                <a:ea typeface="Calibri" pitchFamily="34" charset="-122"/>
                <a:cs typeface="Calibri" pitchFamily="34" charset="-120"/>
              </a:rPr>
              <a:t>Sites</a:t>
            </a:r>
            <a:endParaRPr lang="en-US" sz="1200" dirty="0"/>
          </a:p>
        </p:txBody>
      </p:sp>
      <p:sp>
        <p:nvSpPr>
          <p:cNvPr id="18" name="Text 16"/>
          <p:cNvSpPr/>
          <p:nvPr/>
        </p:nvSpPr>
        <p:spPr>
          <a:xfrm>
            <a:off x="8476488" y="1737360"/>
            <a:ext cx="3063240" cy="68580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Casa, Rabat, Allemagne</a:t>
            </a:r>
            <a:endParaRPr lang="en-US" sz="1500" dirty="0"/>
          </a:p>
        </p:txBody>
      </p:sp>
      <p:sp>
        <p:nvSpPr>
          <p:cNvPr id="19" name="Shape 17"/>
          <p:cNvSpPr/>
          <p:nvPr/>
        </p:nvSpPr>
        <p:spPr>
          <a:xfrm>
            <a:off x="4663440" y="2807208"/>
            <a:ext cx="3474720" cy="1463040"/>
          </a:xfrm>
          <a:prstGeom prst="roundRect">
            <a:avLst>
              <a:gd name="adj" fmla="val 5000"/>
            </a:avLst>
          </a:prstGeom>
          <a:solidFill>
            <a:srgbClr val="FFFFFF"/>
          </a:solidFill>
          <a:ln/>
          <a:effectLst>
            <a:outerShdw sx="100000" sy="100000" kx="0" ky="0" algn="bl" rotWithShape="0" blurRad="101600" dist="25400" dir="8100000">
              <a:srgbClr val="000000">
                <a:alpha val="10000"/>
              </a:srgbClr>
            </a:outerShdw>
          </a:effectLst>
        </p:spPr>
      </p:sp>
      <p:sp>
        <p:nvSpPr>
          <p:cNvPr id="20" name="Text 18"/>
          <p:cNvSpPr/>
          <p:nvPr/>
        </p:nvSpPr>
        <p:spPr>
          <a:xfrm>
            <a:off x="4864608" y="3008376"/>
            <a:ext cx="306324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Calibri" pitchFamily="34" charset="0"/>
                <a:ea typeface="Calibri" pitchFamily="34" charset="-122"/>
                <a:cs typeface="Calibri" pitchFamily="34" charset="-120"/>
              </a:rPr>
              <a:t>Création</a:t>
            </a:r>
            <a:endParaRPr lang="en-US" sz="1200" dirty="0"/>
          </a:p>
        </p:txBody>
      </p:sp>
      <p:sp>
        <p:nvSpPr>
          <p:cNvPr id="21" name="Text 19"/>
          <p:cNvSpPr/>
          <p:nvPr/>
        </p:nvSpPr>
        <p:spPr>
          <a:xfrm>
            <a:off x="4864608" y="3337560"/>
            <a:ext cx="3063240" cy="68580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2014  ·  SARL  ·  +10 ans</a:t>
            </a:r>
            <a:endParaRPr lang="en-US" sz="1500" dirty="0"/>
          </a:p>
        </p:txBody>
      </p:sp>
      <p:sp>
        <p:nvSpPr>
          <p:cNvPr id="22" name="Shape 20"/>
          <p:cNvSpPr/>
          <p:nvPr/>
        </p:nvSpPr>
        <p:spPr>
          <a:xfrm>
            <a:off x="8275320" y="2807208"/>
            <a:ext cx="3474720" cy="1463040"/>
          </a:xfrm>
          <a:prstGeom prst="roundRect">
            <a:avLst>
              <a:gd name="adj" fmla="val 5000"/>
            </a:avLst>
          </a:prstGeom>
          <a:solidFill>
            <a:srgbClr val="FFFFFF"/>
          </a:solidFill>
          <a:ln/>
          <a:effectLst>
            <a:outerShdw sx="100000" sy="100000" kx="0" ky="0" algn="bl" rotWithShape="0" blurRad="101600" dist="25400" dir="8100000">
              <a:srgbClr val="000000">
                <a:alpha val="10000"/>
              </a:srgbClr>
            </a:outerShdw>
          </a:effectLst>
        </p:spPr>
      </p:sp>
      <p:sp>
        <p:nvSpPr>
          <p:cNvPr id="23" name="Text 21"/>
          <p:cNvSpPr/>
          <p:nvPr/>
        </p:nvSpPr>
        <p:spPr>
          <a:xfrm>
            <a:off x="8476488" y="3008376"/>
            <a:ext cx="3063240" cy="256032"/>
          </a:xfrm>
          <a:prstGeom prst="rect">
            <a:avLst/>
          </a:prstGeom>
          <a:noFill/>
          <a:ln/>
        </p:spPr>
        <p:txBody>
          <a:bodyPr wrap="square" lIns="0" tIns="0" rIns="0" bIns="0" rtlCol="0" anchor="ctr"/>
          <a:lstStyle/>
          <a:p>
            <a:pPr indent="0" marL="0">
              <a:buNone/>
            </a:pPr>
            <a:r>
              <a:rPr lang="en-US" sz="1200" spc="120" kern="0" dirty="0">
                <a:solidFill>
                  <a:srgbClr val="C26A33"/>
                </a:solidFill>
                <a:latin typeface="Calibri" pitchFamily="34" charset="0"/>
                <a:ea typeface="Calibri" pitchFamily="34" charset="-122"/>
                <a:cs typeface="Calibri" pitchFamily="34" charset="-120"/>
              </a:rPr>
              <a:t>Solutions</a:t>
            </a:r>
            <a:endParaRPr lang="en-US" sz="1200" dirty="0"/>
          </a:p>
        </p:txBody>
      </p:sp>
      <p:sp>
        <p:nvSpPr>
          <p:cNvPr id="24" name="Text 22"/>
          <p:cNvSpPr/>
          <p:nvPr/>
        </p:nvSpPr>
        <p:spPr>
          <a:xfrm>
            <a:off x="8476488" y="3337560"/>
            <a:ext cx="3063240" cy="68580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GM-ERP, GM-POS, GM-CAFE, GM-HOTEL</a:t>
            </a:r>
            <a:endParaRPr lang="en-US" sz="1500" dirty="0"/>
          </a:p>
        </p:txBody>
      </p:sp>
      <p:sp>
        <p:nvSpPr>
          <p:cNvPr id="25" name="Shape 23"/>
          <p:cNvSpPr/>
          <p:nvPr/>
        </p:nvSpPr>
        <p:spPr>
          <a:xfrm>
            <a:off x="640080" y="4617720"/>
            <a:ext cx="5532120" cy="1645920"/>
          </a:xfrm>
          <a:prstGeom prst="roundRect">
            <a:avLst>
              <a:gd name="adj" fmla="val 4444"/>
            </a:avLst>
          </a:prstGeom>
          <a:solidFill>
            <a:srgbClr val="FFFFFF"/>
          </a:solidFill>
          <a:ln/>
          <a:effectLst>
            <a:outerShdw sx="100000" sy="100000" kx="0" ky="0" algn="bl" rotWithShape="0" blurRad="101600" dist="25400" dir="8100000">
              <a:srgbClr val="000000">
                <a:alpha val="10000"/>
              </a:srgbClr>
            </a:outerShdw>
          </a:effectLst>
        </p:spPr>
      </p:sp>
      <p:sp>
        <p:nvSpPr>
          <p:cNvPr id="26" name="Text 24"/>
          <p:cNvSpPr/>
          <p:nvPr/>
        </p:nvSpPr>
        <p:spPr>
          <a:xfrm>
            <a:off x="868680" y="4736592"/>
            <a:ext cx="5074920" cy="219456"/>
          </a:xfrm>
          <a:prstGeom prst="rect">
            <a:avLst/>
          </a:prstGeom>
          <a:noFill/>
          <a:ln/>
        </p:spPr>
        <p:txBody>
          <a:bodyPr wrap="square" lIns="0" tIns="0" rIns="0" bIns="0" rtlCol="0" anchor="ctr"/>
          <a:lstStyle/>
          <a:p>
            <a:pPr indent="0" marL="0">
              <a:buNone/>
            </a:pPr>
            <a:r>
              <a:rPr lang="en-US" sz="1100" spc="130" kern="0" dirty="0">
                <a:solidFill>
                  <a:srgbClr val="C26A33"/>
                </a:solidFill>
                <a:latin typeface="Calibri" pitchFamily="34" charset="0"/>
                <a:ea typeface="Calibri" pitchFamily="34" charset="-122"/>
                <a:cs typeface="Calibri" pitchFamily="34" charset="-120"/>
              </a:rPr>
              <a:t>ÉQUIPE D'ACCUEIL</a:t>
            </a:r>
            <a:endParaRPr lang="en-US" sz="1100" dirty="0"/>
          </a:p>
        </p:txBody>
      </p:sp>
      <p:sp>
        <p:nvSpPr>
          <p:cNvPr id="27" name="Text 25"/>
          <p:cNvSpPr/>
          <p:nvPr/>
        </p:nvSpPr>
        <p:spPr>
          <a:xfrm>
            <a:off x="868680" y="5010912"/>
            <a:ext cx="5074920" cy="960120"/>
          </a:xfrm>
          <a:prstGeom prst="rect">
            <a:avLst/>
          </a:prstGeom>
          <a:noFill/>
          <a:ln/>
        </p:spPr>
        <p:txBody>
          <a:bodyPr wrap="square" lIns="0" tIns="0" rIns="0" bIns="0" rtlCol="0" anchor="ctr"/>
          <a:lstStyle/>
          <a:p>
            <a:pPr indent="0" marL="0">
              <a:buNone/>
            </a:pPr>
            <a:r>
              <a:rPr lang="en-US" sz="1600" dirty="0">
                <a:solidFill>
                  <a:srgbClr val="1B2420"/>
                </a:solidFill>
                <a:latin typeface="Calibri" pitchFamily="34" charset="0"/>
                <a:ea typeface="Calibri" pitchFamily="34" charset="-122"/>
                <a:cs typeface="Calibri" pitchFamily="34" charset="-120"/>
              </a:rPr>
              <a:t>Pôle Développement  ·  lien métier GM-CAFE</a:t>
            </a:r>
            <a:endParaRPr lang="en-US" sz="1600" dirty="0"/>
          </a:p>
        </p:txBody>
      </p:sp>
      <p:sp>
        <p:nvSpPr>
          <p:cNvPr id="28" name="Shape 26"/>
          <p:cNvSpPr/>
          <p:nvPr/>
        </p:nvSpPr>
        <p:spPr>
          <a:xfrm>
            <a:off x="6400800" y="4617720"/>
            <a:ext cx="5120640" cy="1645920"/>
          </a:xfrm>
          <a:prstGeom prst="roundRect">
            <a:avLst>
              <a:gd name="adj" fmla="val 4444"/>
            </a:avLst>
          </a:prstGeom>
          <a:solidFill>
            <a:srgbClr val="3B5D3A"/>
          </a:solidFill>
          <a:ln/>
          <a:effectLst>
            <a:outerShdw sx="100000" sy="100000" kx="0" ky="0" algn="bl" rotWithShape="0" blurRad="101600" dist="25400" dir="8100000">
              <a:srgbClr val="000000">
                <a:alpha val="10000"/>
              </a:srgbClr>
            </a:outerShdw>
          </a:effectLst>
        </p:spPr>
      </p:sp>
      <p:sp>
        <p:nvSpPr>
          <p:cNvPr id="29" name="Text 27"/>
          <p:cNvSpPr/>
          <p:nvPr/>
        </p:nvSpPr>
        <p:spPr>
          <a:xfrm>
            <a:off x="6629400" y="4736592"/>
            <a:ext cx="4709160" cy="219456"/>
          </a:xfrm>
          <a:prstGeom prst="rect">
            <a:avLst/>
          </a:prstGeom>
          <a:noFill/>
          <a:ln/>
        </p:spPr>
        <p:txBody>
          <a:bodyPr wrap="square" lIns="0" tIns="0" rIns="0" bIns="0" rtlCol="0" anchor="ctr"/>
          <a:lstStyle/>
          <a:p>
            <a:pPr indent="0" marL="0">
              <a:buNone/>
            </a:pPr>
            <a:r>
              <a:rPr lang="en-US" sz="1100" spc="130" kern="0" dirty="0">
                <a:solidFill>
                  <a:srgbClr val="7A9A6A"/>
                </a:solidFill>
                <a:latin typeface="Calibri" pitchFamily="34" charset="0"/>
                <a:ea typeface="Calibri" pitchFamily="34" charset="-122"/>
                <a:cs typeface="Calibri" pitchFamily="34" charset="-120"/>
              </a:rPr>
              <a:t>MON RÔLE</a:t>
            </a:r>
            <a:endParaRPr lang="en-US" sz="1100" dirty="0"/>
          </a:p>
        </p:txBody>
      </p:sp>
      <p:sp>
        <p:nvSpPr>
          <p:cNvPr id="30" name="Text 28"/>
          <p:cNvSpPr/>
          <p:nvPr/>
        </p:nvSpPr>
        <p:spPr>
          <a:xfrm>
            <a:off x="6629400" y="5010912"/>
            <a:ext cx="4709160" cy="1005840"/>
          </a:xfrm>
          <a:prstGeom prst="rect">
            <a:avLst/>
          </a:prstGeom>
          <a:noFill/>
          <a:ln/>
        </p:spPr>
        <p:txBody>
          <a:bodyPr wrap="square" lIns="0" tIns="0" rIns="0" bIns="0" rtlCol="0" anchor="ctr"/>
          <a:lstStyle/>
          <a:p>
            <a:pPr indent="0" marL="0">
              <a:buNone/>
            </a:pPr>
            <a:r>
              <a:rPr lang="en-US" sz="1500" dirty="0">
                <a:solidFill>
                  <a:srgbClr val="EFE9D9"/>
                </a:solidFill>
                <a:latin typeface="Calibri" pitchFamily="34" charset="0"/>
                <a:ea typeface="Calibri" pitchFamily="34" charset="-122"/>
                <a:cs typeface="Calibri" pitchFamily="34" charset="-120"/>
              </a:rPr>
              <a:t>Conception, développement full-stack, service IA d'occupation, documentation du PFE.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CONTEXTE DU PROJET</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03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Le match se joue aussi </a:t>
            </a:r>
            <a:pPr indent="0" marL="0">
              <a:buNone/>
            </a:pPr>
            <a:r>
              <a:rPr lang="en-US" sz="2600" i="1" dirty="0">
                <a:solidFill>
                  <a:srgbClr val="C26A33"/>
                </a:solidFill>
                <a:latin typeface="Georgia" pitchFamily="34" charset="0"/>
                <a:ea typeface="Georgia" pitchFamily="34" charset="-122"/>
                <a:cs typeface="Georgia" pitchFamily="34" charset="-120"/>
              </a:rPr>
              <a:t>au café.</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Text 5"/>
          <p:cNvSpPr/>
          <p:nvPr/>
        </p:nvSpPr>
        <p:spPr>
          <a:xfrm>
            <a:off x="640080" y="1207008"/>
            <a:ext cx="10972800" cy="86868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À l'approche de la Coupe du Monde 2030 au Maroc, les supporters cherchent un lieu proche et disponible. Les cafés n'ont pas d'outil pour gérer réservations, occupation et jour de match. WhatsApp reste la norme.</a:t>
            </a:r>
            <a:endParaRPr lang="en-US" sz="1600" dirty="0"/>
          </a:p>
        </p:txBody>
      </p:sp>
      <p:sp>
        <p:nvSpPr>
          <p:cNvPr id="8" name="Shape 6"/>
          <p:cNvSpPr/>
          <p:nvPr/>
        </p:nvSpPr>
        <p:spPr>
          <a:xfrm>
            <a:off x="640080" y="21945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9" name="Text 7"/>
          <p:cNvSpPr/>
          <p:nvPr/>
        </p:nvSpPr>
        <p:spPr>
          <a:xfrm>
            <a:off x="640080" y="2331720"/>
            <a:ext cx="2743200" cy="640080"/>
          </a:xfrm>
          <a:prstGeom prst="rect">
            <a:avLst/>
          </a:prstGeom>
          <a:noFill/>
          <a:ln/>
        </p:spPr>
        <p:txBody>
          <a:bodyPr wrap="square" lIns="0" tIns="0" rIns="0" bIns="0" rtlCol="0" anchor="ctr"/>
          <a:lstStyle/>
          <a:p>
            <a:pPr algn="ctr" indent="0" marL="0">
              <a:buNone/>
            </a:pPr>
            <a:r>
              <a:rPr lang="en-US" sz="2400" dirty="0">
                <a:solidFill>
                  <a:srgbClr val="3B5D3A"/>
                </a:solidFill>
                <a:latin typeface="Georgia" pitchFamily="34" charset="0"/>
                <a:ea typeface="Georgia" pitchFamily="34" charset="-122"/>
                <a:cs typeface="Georgia" pitchFamily="34" charset="-120"/>
              </a:rPr>
              <a:t>2030</a:t>
            </a:r>
            <a:endParaRPr lang="en-US" sz="2400" dirty="0"/>
          </a:p>
        </p:txBody>
      </p:sp>
      <p:sp>
        <p:nvSpPr>
          <p:cNvPr id="10" name="Text 8"/>
          <p:cNvSpPr/>
          <p:nvPr/>
        </p:nvSpPr>
        <p:spPr>
          <a:xfrm>
            <a:off x="777240" y="3017520"/>
            <a:ext cx="2468880" cy="914400"/>
          </a:xfrm>
          <a:prstGeom prst="rect">
            <a:avLst/>
          </a:prstGeom>
          <a:noFill/>
          <a:ln/>
        </p:spPr>
        <p:txBody>
          <a:bodyPr wrap="square" lIns="0" tIns="0" rIns="0" bIns="0" rtlCol="0" anchor="ctr"/>
          <a:lstStyle/>
          <a:p>
            <a:pPr algn="ctr" indent="0" marL="0">
              <a:buNone/>
            </a:pPr>
            <a:r>
              <a:rPr lang="en-US" sz="1400" dirty="0">
                <a:solidFill>
                  <a:srgbClr val="3B3F3A"/>
                </a:solidFill>
                <a:latin typeface="Calibri" pitchFamily="34" charset="0"/>
                <a:ea typeface="Calibri" pitchFamily="34" charset="-122"/>
                <a:cs typeface="Calibri" pitchFamily="34" charset="-120"/>
              </a:rPr>
              <a:t>Coupe du Monde</a:t>
            </a:r>
            <a:endParaRPr lang="en-US" sz="1400" dirty="0"/>
          </a:p>
          <a:p>
            <a:pPr algn="ctr" indent="0" marL="0">
              <a:buNone/>
            </a:pPr>
            <a:r>
              <a:rPr lang="en-US" sz="1400" dirty="0">
                <a:solidFill>
                  <a:srgbClr val="3B3F3A"/>
                </a:solidFill>
                <a:latin typeface="Calibri" pitchFamily="34" charset="0"/>
                <a:ea typeface="Calibri" pitchFamily="34" charset="-122"/>
                <a:cs typeface="Calibri" pitchFamily="34" charset="-120"/>
              </a:rPr>
              <a:t>au Maroc</a:t>
            </a:r>
            <a:endParaRPr lang="en-US" sz="1400" dirty="0"/>
          </a:p>
        </p:txBody>
      </p:sp>
      <p:sp>
        <p:nvSpPr>
          <p:cNvPr id="11" name="Shape 9"/>
          <p:cNvSpPr/>
          <p:nvPr/>
        </p:nvSpPr>
        <p:spPr>
          <a:xfrm>
            <a:off x="3520440" y="21945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2" name="Text 10"/>
          <p:cNvSpPr/>
          <p:nvPr/>
        </p:nvSpPr>
        <p:spPr>
          <a:xfrm>
            <a:off x="3520440" y="2331720"/>
            <a:ext cx="2743200" cy="640080"/>
          </a:xfrm>
          <a:prstGeom prst="rect">
            <a:avLst/>
          </a:prstGeom>
          <a:noFill/>
          <a:ln/>
        </p:spPr>
        <p:txBody>
          <a:bodyPr wrap="square" lIns="0" tIns="0" rIns="0" bIns="0" rtlCol="0" anchor="ctr"/>
          <a:lstStyle/>
          <a:p>
            <a:pPr algn="ctr" indent="0" marL="0">
              <a:buNone/>
            </a:pPr>
            <a:r>
              <a:rPr lang="en-US" sz="2400" dirty="0">
                <a:solidFill>
                  <a:srgbClr val="3B5D3A"/>
                </a:solidFill>
                <a:latin typeface="Georgia" pitchFamily="34" charset="0"/>
                <a:ea typeface="Georgia" pitchFamily="34" charset="-122"/>
                <a:cs typeface="Georgia" pitchFamily="34" charset="-120"/>
              </a:rPr>
              <a:t>3 rôles</a:t>
            </a:r>
            <a:endParaRPr lang="en-US" sz="2400" dirty="0"/>
          </a:p>
        </p:txBody>
      </p:sp>
      <p:sp>
        <p:nvSpPr>
          <p:cNvPr id="13" name="Text 11"/>
          <p:cNvSpPr/>
          <p:nvPr/>
        </p:nvSpPr>
        <p:spPr>
          <a:xfrm>
            <a:off x="3657600" y="3017520"/>
            <a:ext cx="2468880" cy="914400"/>
          </a:xfrm>
          <a:prstGeom prst="rect">
            <a:avLst/>
          </a:prstGeom>
          <a:noFill/>
          <a:ln/>
        </p:spPr>
        <p:txBody>
          <a:bodyPr wrap="square" lIns="0" tIns="0" rIns="0" bIns="0" rtlCol="0" anchor="ctr"/>
          <a:lstStyle/>
          <a:p>
            <a:pPr algn="ctr" indent="0" marL="0">
              <a:buNone/>
            </a:pPr>
            <a:r>
              <a:rPr lang="en-US" sz="1400" dirty="0">
                <a:solidFill>
                  <a:srgbClr val="3B3F3A"/>
                </a:solidFill>
                <a:latin typeface="Calibri" pitchFamily="34" charset="0"/>
                <a:ea typeface="Calibri" pitchFamily="34" charset="-122"/>
                <a:cs typeface="Calibri" pitchFamily="34" charset="-120"/>
              </a:rPr>
              <a:t>Fan, Owner,</a:t>
            </a:r>
            <a:endParaRPr lang="en-US" sz="1400" dirty="0"/>
          </a:p>
          <a:p>
            <a:pPr algn="ctr" indent="0" marL="0">
              <a:buNone/>
            </a:pPr>
            <a:r>
              <a:rPr lang="en-US" sz="1400" dirty="0">
                <a:solidFill>
                  <a:srgbClr val="3B3F3A"/>
                </a:solidFill>
                <a:latin typeface="Calibri" pitchFamily="34" charset="0"/>
                <a:ea typeface="Calibri" pitchFamily="34" charset="-122"/>
                <a:cs typeface="Calibri" pitchFamily="34" charset="-120"/>
              </a:rPr>
              <a:t>Admin</a:t>
            </a:r>
            <a:endParaRPr lang="en-US" sz="1400" dirty="0"/>
          </a:p>
        </p:txBody>
      </p:sp>
      <p:sp>
        <p:nvSpPr>
          <p:cNvPr id="14" name="Shape 12"/>
          <p:cNvSpPr/>
          <p:nvPr/>
        </p:nvSpPr>
        <p:spPr>
          <a:xfrm>
            <a:off x="6400800" y="21945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5" name="Text 13"/>
          <p:cNvSpPr/>
          <p:nvPr/>
        </p:nvSpPr>
        <p:spPr>
          <a:xfrm>
            <a:off x="6400800" y="2331720"/>
            <a:ext cx="2743200" cy="640080"/>
          </a:xfrm>
          <a:prstGeom prst="rect">
            <a:avLst/>
          </a:prstGeom>
          <a:noFill/>
          <a:ln/>
        </p:spPr>
        <p:txBody>
          <a:bodyPr wrap="square" lIns="0" tIns="0" rIns="0" bIns="0" rtlCol="0" anchor="ctr"/>
          <a:lstStyle/>
          <a:p>
            <a:pPr algn="ctr" indent="0" marL="0">
              <a:buNone/>
            </a:pPr>
            <a:r>
              <a:rPr lang="en-US" sz="2400" dirty="0">
                <a:solidFill>
                  <a:srgbClr val="3B5D3A"/>
                </a:solidFill>
                <a:latin typeface="Georgia" pitchFamily="34" charset="0"/>
                <a:ea typeface="Georgia" pitchFamily="34" charset="-122"/>
                <a:cs typeface="Georgia" pitchFamily="34" charset="-120"/>
              </a:rPr>
              <a:t>1 plateforme</a:t>
            </a:r>
            <a:endParaRPr lang="en-US" sz="2400" dirty="0"/>
          </a:p>
        </p:txBody>
      </p:sp>
      <p:sp>
        <p:nvSpPr>
          <p:cNvPr id="16" name="Text 14"/>
          <p:cNvSpPr/>
          <p:nvPr/>
        </p:nvSpPr>
        <p:spPr>
          <a:xfrm>
            <a:off x="6537960" y="3017520"/>
            <a:ext cx="2468880" cy="914400"/>
          </a:xfrm>
          <a:prstGeom prst="rect">
            <a:avLst/>
          </a:prstGeom>
          <a:noFill/>
          <a:ln/>
        </p:spPr>
        <p:txBody>
          <a:bodyPr wrap="square" lIns="0" tIns="0" rIns="0" bIns="0" rtlCol="0" anchor="ctr"/>
          <a:lstStyle/>
          <a:p>
            <a:pPr algn="ctr" indent="0" marL="0">
              <a:buNone/>
            </a:pPr>
            <a:r>
              <a:rPr lang="en-US" sz="1400" dirty="0">
                <a:solidFill>
                  <a:srgbClr val="3B3F3A"/>
                </a:solidFill>
                <a:latin typeface="Calibri" pitchFamily="34" charset="0"/>
                <a:ea typeface="Calibri" pitchFamily="34" charset="-122"/>
                <a:cs typeface="Calibri" pitchFamily="34" charset="-120"/>
              </a:rPr>
              <a:t>Match + lieu</a:t>
            </a:r>
            <a:endParaRPr lang="en-US" sz="1400" dirty="0"/>
          </a:p>
          <a:p>
            <a:pPr algn="ctr" indent="0" marL="0">
              <a:buNone/>
            </a:pPr>
            <a:r>
              <a:rPr lang="en-US" sz="1400" dirty="0">
                <a:solidFill>
                  <a:srgbClr val="3B3F3A"/>
                </a:solidFill>
                <a:latin typeface="Calibri" pitchFamily="34" charset="0"/>
                <a:ea typeface="Calibri" pitchFamily="34" charset="-122"/>
                <a:cs typeface="Calibri" pitchFamily="34" charset="-120"/>
              </a:rPr>
              <a:t>+ paiement + IA</a:t>
            </a:r>
            <a:endParaRPr lang="en-US" sz="1400" dirty="0"/>
          </a:p>
        </p:txBody>
      </p:sp>
      <p:sp>
        <p:nvSpPr>
          <p:cNvPr id="17" name="Shape 15"/>
          <p:cNvSpPr/>
          <p:nvPr/>
        </p:nvSpPr>
        <p:spPr>
          <a:xfrm>
            <a:off x="9281160" y="21945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8" name="Text 16"/>
          <p:cNvSpPr/>
          <p:nvPr/>
        </p:nvSpPr>
        <p:spPr>
          <a:xfrm>
            <a:off x="9281160" y="2331720"/>
            <a:ext cx="2743200" cy="640080"/>
          </a:xfrm>
          <a:prstGeom prst="rect">
            <a:avLst/>
          </a:prstGeom>
          <a:noFill/>
          <a:ln/>
        </p:spPr>
        <p:txBody>
          <a:bodyPr wrap="square" lIns="0" tIns="0" rIns="0" bIns="0" rtlCol="0" anchor="ctr"/>
          <a:lstStyle/>
          <a:p>
            <a:pPr algn="ctr" indent="0" marL="0">
              <a:buNone/>
            </a:pPr>
            <a:r>
              <a:rPr lang="en-US" sz="2400" dirty="0">
                <a:solidFill>
                  <a:srgbClr val="3B5D3A"/>
                </a:solidFill>
                <a:latin typeface="Georgia" pitchFamily="34" charset="0"/>
                <a:ea typeface="Georgia" pitchFamily="34" charset="-122"/>
                <a:cs typeface="Georgia" pitchFamily="34" charset="-120"/>
              </a:rPr>
              <a:t>4 mois</a:t>
            </a:r>
            <a:endParaRPr lang="en-US" sz="2400" dirty="0"/>
          </a:p>
        </p:txBody>
      </p:sp>
      <p:sp>
        <p:nvSpPr>
          <p:cNvPr id="19" name="Text 17"/>
          <p:cNvSpPr/>
          <p:nvPr/>
        </p:nvSpPr>
        <p:spPr>
          <a:xfrm>
            <a:off x="9418320" y="3017520"/>
            <a:ext cx="2468880" cy="914400"/>
          </a:xfrm>
          <a:prstGeom prst="rect">
            <a:avLst/>
          </a:prstGeom>
          <a:noFill/>
          <a:ln/>
        </p:spPr>
        <p:txBody>
          <a:bodyPr wrap="square" lIns="0" tIns="0" rIns="0" bIns="0" rtlCol="0" anchor="ctr"/>
          <a:lstStyle/>
          <a:p>
            <a:pPr algn="ctr" indent="0" marL="0">
              <a:buNone/>
            </a:pPr>
            <a:r>
              <a:rPr lang="en-US" sz="1400" dirty="0">
                <a:solidFill>
                  <a:srgbClr val="3B3F3A"/>
                </a:solidFill>
                <a:latin typeface="Calibri" pitchFamily="34" charset="0"/>
                <a:ea typeface="Calibri" pitchFamily="34" charset="-122"/>
                <a:cs typeface="Calibri" pitchFamily="34" charset="-120"/>
              </a:rPr>
              <a:t>Stage GM-Soft</a:t>
            </a:r>
            <a:endParaRPr lang="en-US" sz="1400" dirty="0"/>
          </a:p>
          <a:p>
            <a:pPr algn="ctr" indent="0" marL="0">
              <a:buNone/>
            </a:pPr>
            <a:r>
              <a:rPr lang="en-US" sz="1400" dirty="0">
                <a:solidFill>
                  <a:srgbClr val="3B3F3A"/>
                </a:solidFill>
                <a:latin typeface="Calibri" pitchFamily="34" charset="0"/>
                <a:ea typeface="Calibri" pitchFamily="34" charset="-122"/>
                <a:cs typeface="Calibri" pitchFamily="34" charset="-120"/>
              </a:rPr>
              <a:t>Avril → Juillet</a:t>
            </a:r>
            <a:endParaRPr lang="en-US" sz="1400" dirty="0"/>
          </a:p>
        </p:txBody>
      </p:sp>
      <p:sp>
        <p:nvSpPr>
          <p:cNvPr id="20" name="Shape 18"/>
          <p:cNvSpPr/>
          <p:nvPr/>
        </p:nvSpPr>
        <p:spPr>
          <a:xfrm>
            <a:off x="640080" y="4343400"/>
            <a:ext cx="10911535" cy="1874520"/>
          </a:xfrm>
          <a:prstGeom prst="roundRect">
            <a:avLst>
              <a:gd name="adj" fmla="val 3902"/>
            </a:avLst>
          </a:prstGeom>
          <a:solidFill>
            <a:srgbClr val="2C4A2B"/>
          </a:solidFill>
          <a:ln/>
          <a:effectLst>
            <a:outerShdw sx="100000" sy="100000" kx="0" ky="0" algn="bl" rotWithShape="0" blurRad="101600" dist="25400" dir="8100000">
              <a:srgbClr val="000000">
                <a:alpha val="10000"/>
              </a:srgbClr>
            </a:outerShdw>
          </a:effectLst>
        </p:spPr>
      </p:sp>
      <p:sp>
        <p:nvSpPr>
          <p:cNvPr id="21" name="Text 19"/>
          <p:cNvSpPr/>
          <p:nvPr/>
        </p:nvSpPr>
        <p:spPr>
          <a:xfrm>
            <a:off x="1005840" y="4617720"/>
            <a:ext cx="10332720" cy="1325880"/>
          </a:xfrm>
          <a:prstGeom prst="rect">
            <a:avLst/>
          </a:prstGeom>
          <a:noFill/>
          <a:ln/>
        </p:spPr>
        <p:txBody>
          <a:bodyPr wrap="square" lIns="0" tIns="0" rIns="0" bIns="0" rtlCol="0" anchor="ctr"/>
          <a:lstStyle/>
          <a:p>
            <a:pPr indent="0" marL="0">
              <a:buNone/>
            </a:pPr>
            <a:r>
              <a:rPr lang="en-US" sz="1800" i="1" dirty="0">
                <a:solidFill>
                  <a:srgbClr val="EFE9D9"/>
                </a:solidFill>
                <a:latin typeface="Georgia" pitchFamily="34" charset="0"/>
                <a:ea typeface="Georgia" pitchFamily="34" charset="-122"/>
                <a:cs typeface="Georgia" pitchFamily="34" charset="-120"/>
              </a:rPr>
              <a:t>FanConnect 2030 prolonge GM-CAFE : digitaliser le café le jour du match — calendrier sportif, géolocalisation, réservation, paiement et occupation prédictive.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PROBLÉMATIQUE</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04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La question du PFE</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10911535" cy="1965960"/>
          </a:xfrm>
          <a:prstGeom prst="roundRect">
            <a:avLst>
              <a:gd name="adj" fmla="val 3721"/>
            </a:avLst>
          </a:prstGeom>
          <a:solidFill>
            <a:srgbClr val="2C4A2B"/>
          </a:solidFill>
          <a:ln/>
          <a:effectLst>
            <a:outerShdw sx="100000" sy="100000" kx="0" ky="0" algn="bl" rotWithShape="0" blurRad="101600" dist="25400" dir="8100000">
              <a:srgbClr val="000000">
                <a:alpha val="10000"/>
              </a:srgbClr>
            </a:outerShdw>
          </a:effectLst>
        </p:spPr>
      </p:sp>
      <p:sp>
        <p:nvSpPr>
          <p:cNvPr id="8" name="Text 6"/>
          <p:cNvSpPr/>
          <p:nvPr/>
        </p:nvSpPr>
        <p:spPr>
          <a:xfrm>
            <a:off x="1005840" y="1389888"/>
            <a:ext cx="10424160" cy="1600200"/>
          </a:xfrm>
          <a:prstGeom prst="rect">
            <a:avLst/>
          </a:prstGeom>
          <a:noFill/>
          <a:ln/>
        </p:spPr>
        <p:txBody>
          <a:bodyPr wrap="square" lIns="0" tIns="0" rIns="0" bIns="0" rtlCol="0" anchor="ctr"/>
          <a:lstStyle/>
          <a:p>
            <a:pPr indent="0" marL="0">
              <a:buNone/>
            </a:pPr>
            <a:r>
              <a:rPr lang="en-US" sz="2000" i="1" dirty="0">
                <a:solidFill>
                  <a:srgbClr val="EFE9D9"/>
                </a:solidFill>
                <a:latin typeface="Georgia" pitchFamily="34" charset="0"/>
                <a:ea typeface="Georgia" pitchFamily="34" charset="-122"/>
                <a:cs typeface="Georgia" pitchFamily="34" charset="-120"/>
              </a:rPr>
              <a:t>Comment concevoir une plateforme fiable, sécurisée et intelligente permettant aux supporters de réserver un lieu adapté pour un match, tout en aidant les cafés à anticiper l'affluence — dans le contexte de la CDM 2030 ?</a:t>
            </a:r>
            <a:endParaRPr lang="en-US" sz="2000" dirty="0"/>
          </a:p>
        </p:txBody>
      </p:sp>
      <p:sp>
        <p:nvSpPr>
          <p:cNvPr id="9" name="Shape 7"/>
          <p:cNvSpPr/>
          <p:nvPr/>
        </p:nvSpPr>
        <p:spPr>
          <a:xfrm>
            <a:off x="640080" y="3383280"/>
            <a:ext cx="3657600" cy="2788920"/>
          </a:xfrm>
          <a:prstGeom prst="roundRect">
            <a:avLst>
              <a:gd name="adj" fmla="val 2623"/>
            </a:avLst>
          </a:prstGeom>
          <a:solidFill>
            <a:srgbClr val="FFFFFF"/>
          </a:solidFill>
          <a:ln/>
          <a:effectLst>
            <a:outerShdw sx="100000" sy="100000" kx="0" ky="0" algn="bl" rotWithShape="0" blurRad="101600" dist="25400" dir="8100000">
              <a:srgbClr val="000000">
                <a:alpha val="10000"/>
              </a:srgbClr>
            </a:outerShdw>
          </a:effectLst>
        </p:spPr>
      </p:sp>
      <p:sp>
        <p:nvSpPr>
          <p:cNvPr id="10" name="Text 8"/>
          <p:cNvSpPr/>
          <p:nvPr/>
        </p:nvSpPr>
        <p:spPr>
          <a:xfrm>
            <a:off x="868680" y="3584448"/>
            <a:ext cx="3200400" cy="41148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Métier</a:t>
            </a:r>
            <a:endParaRPr lang="en-US" sz="1800" dirty="0"/>
          </a:p>
        </p:txBody>
      </p:sp>
      <p:sp>
        <p:nvSpPr>
          <p:cNvPr id="11" name="Text 9"/>
          <p:cNvSpPr/>
          <p:nvPr/>
        </p:nvSpPr>
        <p:spPr>
          <a:xfrm>
            <a:off x="868680" y="4114800"/>
            <a:ext cx="3200400" cy="169164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Unifier match, lieu, table et paiement dans un seul parcours.</a:t>
            </a:r>
            <a:endParaRPr lang="en-US" sz="1600" dirty="0"/>
          </a:p>
        </p:txBody>
      </p:sp>
      <p:sp>
        <p:nvSpPr>
          <p:cNvPr id="12" name="Shape 10"/>
          <p:cNvSpPr/>
          <p:nvPr/>
        </p:nvSpPr>
        <p:spPr>
          <a:xfrm>
            <a:off x="4434840" y="3383280"/>
            <a:ext cx="3657600" cy="2788920"/>
          </a:xfrm>
          <a:prstGeom prst="roundRect">
            <a:avLst>
              <a:gd name="adj" fmla="val 2623"/>
            </a:avLst>
          </a:prstGeom>
          <a:solidFill>
            <a:srgbClr val="FFFFFF"/>
          </a:solidFill>
          <a:ln/>
          <a:effectLst>
            <a:outerShdw sx="100000" sy="100000" kx="0" ky="0" algn="bl" rotWithShape="0" blurRad="101600" dist="25400" dir="8100000">
              <a:srgbClr val="000000">
                <a:alpha val="10000"/>
              </a:srgbClr>
            </a:outerShdw>
          </a:effectLst>
        </p:spPr>
      </p:sp>
      <p:sp>
        <p:nvSpPr>
          <p:cNvPr id="13" name="Text 11"/>
          <p:cNvSpPr/>
          <p:nvPr/>
        </p:nvSpPr>
        <p:spPr>
          <a:xfrm>
            <a:off x="4663440" y="3584448"/>
            <a:ext cx="3200400" cy="41148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Occupation</a:t>
            </a:r>
            <a:endParaRPr lang="en-US" sz="1800" dirty="0"/>
          </a:p>
        </p:txBody>
      </p:sp>
      <p:sp>
        <p:nvSpPr>
          <p:cNvPr id="14" name="Text 12"/>
          <p:cNvSpPr/>
          <p:nvPr/>
        </p:nvSpPr>
        <p:spPr>
          <a:xfrm>
            <a:off x="4663440" y="4114800"/>
            <a:ext cx="3200400" cy="169164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Estimer l'affluence avant le coup d'envoi.</a:t>
            </a:r>
            <a:endParaRPr lang="en-US" sz="1600" dirty="0"/>
          </a:p>
        </p:txBody>
      </p:sp>
      <p:sp>
        <p:nvSpPr>
          <p:cNvPr id="15" name="Shape 13"/>
          <p:cNvSpPr/>
          <p:nvPr/>
        </p:nvSpPr>
        <p:spPr>
          <a:xfrm>
            <a:off x="8229600" y="3383280"/>
            <a:ext cx="3657600" cy="2788920"/>
          </a:xfrm>
          <a:prstGeom prst="roundRect">
            <a:avLst>
              <a:gd name="adj" fmla="val 2623"/>
            </a:avLst>
          </a:prstGeom>
          <a:solidFill>
            <a:srgbClr val="FFFFFF"/>
          </a:solidFill>
          <a:ln/>
          <a:effectLst>
            <a:outerShdw sx="100000" sy="100000" kx="0" ky="0" algn="bl" rotWithShape="0" blurRad="101600" dist="25400" dir="8100000">
              <a:srgbClr val="000000">
                <a:alpha val="10000"/>
              </a:srgbClr>
            </a:outerShdw>
          </a:effectLst>
        </p:spPr>
      </p:sp>
      <p:sp>
        <p:nvSpPr>
          <p:cNvPr id="16" name="Text 14"/>
          <p:cNvSpPr/>
          <p:nvPr/>
        </p:nvSpPr>
        <p:spPr>
          <a:xfrm>
            <a:off x="8458200" y="3584448"/>
            <a:ext cx="3200400" cy="41148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Architecture</a:t>
            </a:r>
            <a:endParaRPr lang="en-US" sz="1800" dirty="0"/>
          </a:p>
        </p:txBody>
      </p:sp>
      <p:sp>
        <p:nvSpPr>
          <p:cNvPr id="17" name="Text 15"/>
          <p:cNvSpPr/>
          <p:nvPr/>
        </p:nvSpPr>
        <p:spPr>
          <a:xfrm>
            <a:off x="8458200" y="4114800"/>
            <a:ext cx="3200400" cy="169164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Séparer API métier, interface et service d'apprentissage.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OBJECTIFS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05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Un objectif général, quatre cibles.</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188720"/>
            <a:ext cx="10911535" cy="1051560"/>
          </a:xfrm>
          <a:prstGeom prst="roundRect">
            <a:avLst>
              <a:gd name="adj" fmla="val 6957"/>
            </a:avLst>
          </a:prstGeom>
          <a:solidFill>
            <a:srgbClr val="FFFFFF"/>
          </a:solidFill>
          <a:ln/>
          <a:effectLst>
            <a:outerShdw sx="100000" sy="100000" kx="0" ky="0" algn="bl" rotWithShape="0" blurRad="101600" dist="25400" dir="8100000">
              <a:srgbClr val="000000">
                <a:alpha val="10000"/>
              </a:srgbClr>
            </a:outerShdw>
          </a:effectLst>
        </p:spPr>
      </p:sp>
      <p:sp>
        <p:nvSpPr>
          <p:cNvPr id="8" name="Text 6"/>
          <p:cNvSpPr/>
          <p:nvPr/>
        </p:nvSpPr>
        <p:spPr>
          <a:xfrm>
            <a:off x="914400" y="1353312"/>
            <a:ext cx="10515600" cy="77724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Concevoir et réaliser une plateforme web sécurisée de réservation de cafés pour le jour de match, avec recommandation géolocalisée et prédiction d'occupation.</a:t>
            </a:r>
            <a:endParaRPr lang="en-US" sz="1600" dirty="0"/>
          </a:p>
        </p:txBody>
      </p:sp>
      <p:sp>
        <p:nvSpPr>
          <p:cNvPr id="9" name="Shape 7"/>
          <p:cNvSpPr/>
          <p:nvPr/>
        </p:nvSpPr>
        <p:spPr>
          <a:xfrm>
            <a:off x="640080" y="24231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0" name="Text 8"/>
          <p:cNvSpPr/>
          <p:nvPr/>
        </p:nvSpPr>
        <p:spPr>
          <a:xfrm>
            <a:off x="822960" y="2560320"/>
            <a:ext cx="2377440" cy="256032"/>
          </a:xfrm>
          <a:prstGeom prst="rect">
            <a:avLst/>
          </a:prstGeom>
          <a:noFill/>
          <a:ln/>
        </p:spPr>
        <p:txBody>
          <a:bodyPr wrap="square" lIns="0" tIns="0" rIns="0" bIns="0" rtlCol="0" anchor="ctr"/>
          <a:lstStyle/>
          <a:p>
            <a:pPr indent="0" marL="0">
              <a:buNone/>
            </a:pPr>
            <a:r>
              <a:rPr lang="en-US" sz="1200" spc="130" kern="0" dirty="0">
                <a:solidFill>
                  <a:srgbClr val="C26A33"/>
                </a:solidFill>
                <a:latin typeface="Calibri" pitchFamily="34" charset="0"/>
                <a:ea typeface="Calibri" pitchFamily="34" charset="-122"/>
                <a:cs typeface="Calibri" pitchFamily="34" charset="-120"/>
              </a:rPr>
              <a:t>01</a:t>
            </a:r>
            <a:endParaRPr lang="en-US" sz="1200" dirty="0"/>
          </a:p>
        </p:txBody>
      </p:sp>
      <p:sp>
        <p:nvSpPr>
          <p:cNvPr id="11" name="Text 9"/>
          <p:cNvSpPr/>
          <p:nvPr/>
        </p:nvSpPr>
        <p:spPr>
          <a:xfrm>
            <a:off x="822960" y="2880360"/>
            <a:ext cx="2377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Parcours fan</a:t>
            </a:r>
            <a:endParaRPr lang="en-US" sz="1600" dirty="0"/>
          </a:p>
        </p:txBody>
      </p:sp>
      <p:sp>
        <p:nvSpPr>
          <p:cNvPr id="12" name="Text 10"/>
          <p:cNvSpPr/>
          <p:nvPr/>
        </p:nvSpPr>
        <p:spPr>
          <a:xfrm>
            <a:off x="822960" y="3310128"/>
            <a:ext cx="2377440" cy="82296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Match → lieu → table → paiement → ticket QR.</a:t>
            </a:r>
            <a:endParaRPr lang="en-US" sz="1400" dirty="0"/>
          </a:p>
        </p:txBody>
      </p:sp>
      <p:sp>
        <p:nvSpPr>
          <p:cNvPr id="13" name="Shape 11"/>
          <p:cNvSpPr/>
          <p:nvPr/>
        </p:nvSpPr>
        <p:spPr>
          <a:xfrm>
            <a:off x="3520440" y="24231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4" name="Text 12"/>
          <p:cNvSpPr/>
          <p:nvPr/>
        </p:nvSpPr>
        <p:spPr>
          <a:xfrm>
            <a:off x="3703320" y="2560320"/>
            <a:ext cx="2377440" cy="256032"/>
          </a:xfrm>
          <a:prstGeom prst="rect">
            <a:avLst/>
          </a:prstGeom>
          <a:noFill/>
          <a:ln/>
        </p:spPr>
        <p:txBody>
          <a:bodyPr wrap="square" lIns="0" tIns="0" rIns="0" bIns="0" rtlCol="0" anchor="ctr"/>
          <a:lstStyle/>
          <a:p>
            <a:pPr indent="0" marL="0">
              <a:buNone/>
            </a:pPr>
            <a:r>
              <a:rPr lang="en-US" sz="1200" spc="130" kern="0" dirty="0">
                <a:solidFill>
                  <a:srgbClr val="C26A33"/>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703320" y="2880360"/>
            <a:ext cx="2377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Outil owner</a:t>
            </a:r>
            <a:endParaRPr lang="en-US" sz="1600" dirty="0"/>
          </a:p>
        </p:txBody>
      </p:sp>
      <p:sp>
        <p:nvSpPr>
          <p:cNvPr id="16" name="Text 14"/>
          <p:cNvSpPr/>
          <p:nvPr/>
        </p:nvSpPr>
        <p:spPr>
          <a:xfrm>
            <a:off x="3703320" y="3310128"/>
            <a:ext cx="2377440" cy="82296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Établissement, occupation live, check-in.</a:t>
            </a:r>
            <a:endParaRPr lang="en-US" sz="1400" dirty="0"/>
          </a:p>
        </p:txBody>
      </p:sp>
      <p:sp>
        <p:nvSpPr>
          <p:cNvPr id="17" name="Shape 15"/>
          <p:cNvSpPr/>
          <p:nvPr/>
        </p:nvSpPr>
        <p:spPr>
          <a:xfrm>
            <a:off x="6400800" y="24231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18" name="Text 16"/>
          <p:cNvSpPr/>
          <p:nvPr/>
        </p:nvSpPr>
        <p:spPr>
          <a:xfrm>
            <a:off x="6583680" y="2560320"/>
            <a:ext cx="2377440" cy="256032"/>
          </a:xfrm>
          <a:prstGeom prst="rect">
            <a:avLst/>
          </a:prstGeom>
          <a:noFill/>
          <a:ln/>
        </p:spPr>
        <p:txBody>
          <a:bodyPr wrap="square" lIns="0" tIns="0" rIns="0" bIns="0" rtlCol="0" anchor="ctr"/>
          <a:lstStyle/>
          <a:p>
            <a:pPr indent="0" marL="0">
              <a:buNone/>
            </a:pPr>
            <a:r>
              <a:rPr lang="en-US" sz="1200" spc="130" kern="0" dirty="0">
                <a:solidFill>
                  <a:srgbClr val="C26A33"/>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583680" y="2880360"/>
            <a:ext cx="2377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Pilotage admin</a:t>
            </a:r>
            <a:endParaRPr lang="en-US" sz="1600" dirty="0"/>
          </a:p>
        </p:txBody>
      </p:sp>
      <p:sp>
        <p:nvSpPr>
          <p:cNvPr id="20" name="Text 18"/>
          <p:cNvSpPr/>
          <p:nvPr/>
        </p:nvSpPr>
        <p:spPr>
          <a:xfrm>
            <a:off x="6583680" y="3310128"/>
            <a:ext cx="2377440" cy="82296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Validation, analytics, compétitions.</a:t>
            </a:r>
            <a:endParaRPr lang="en-US" sz="1400" dirty="0"/>
          </a:p>
        </p:txBody>
      </p:sp>
      <p:sp>
        <p:nvSpPr>
          <p:cNvPr id="21" name="Shape 19"/>
          <p:cNvSpPr/>
          <p:nvPr/>
        </p:nvSpPr>
        <p:spPr>
          <a:xfrm>
            <a:off x="9281160" y="242316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10000"/>
              </a:srgbClr>
            </a:outerShdw>
          </a:effectLst>
        </p:spPr>
      </p:sp>
      <p:sp>
        <p:nvSpPr>
          <p:cNvPr id="22" name="Text 20"/>
          <p:cNvSpPr/>
          <p:nvPr/>
        </p:nvSpPr>
        <p:spPr>
          <a:xfrm>
            <a:off x="9464040" y="2560320"/>
            <a:ext cx="2377440" cy="256032"/>
          </a:xfrm>
          <a:prstGeom prst="rect">
            <a:avLst/>
          </a:prstGeom>
          <a:noFill/>
          <a:ln/>
        </p:spPr>
        <p:txBody>
          <a:bodyPr wrap="square" lIns="0" tIns="0" rIns="0" bIns="0" rtlCol="0" anchor="ctr"/>
          <a:lstStyle/>
          <a:p>
            <a:pPr indent="0" marL="0">
              <a:buNone/>
            </a:pPr>
            <a:r>
              <a:rPr lang="en-US" sz="1200" spc="130" kern="0" dirty="0">
                <a:solidFill>
                  <a:srgbClr val="C26A33"/>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9464040" y="2880360"/>
            <a:ext cx="2377440" cy="365760"/>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IA utile</a:t>
            </a:r>
            <a:endParaRPr lang="en-US" sz="1600" dirty="0"/>
          </a:p>
        </p:txBody>
      </p:sp>
      <p:sp>
        <p:nvSpPr>
          <p:cNvPr id="24" name="Text 22"/>
          <p:cNvSpPr/>
          <p:nvPr/>
        </p:nvSpPr>
        <p:spPr>
          <a:xfrm>
            <a:off x="9464040" y="3310128"/>
            <a:ext cx="2377440" cy="82296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Prédiction d'affluence + recommandation.</a:t>
            </a:r>
            <a:endParaRPr lang="en-US" sz="1400" dirty="0"/>
          </a:p>
        </p:txBody>
      </p:sp>
      <p:sp>
        <p:nvSpPr>
          <p:cNvPr id="25" name="Shape 23"/>
          <p:cNvSpPr/>
          <p:nvPr/>
        </p:nvSpPr>
        <p:spPr>
          <a:xfrm>
            <a:off x="640080" y="4590288"/>
            <a:ext cx="5532120" cy="1645920"/>
          </a:xfrm>
          <a:prstGeom prst="roundRect">
            <a:avLst>
              <a:gd name="adj" fmla="val 4444"/>
            </a:avLst>
          </a:prstGeom>
          <a:solidFill>
            <a:srgbClr val="3B5D3A"/>
          </a:solidFill>
          <a:ln/>
          <a:effectLst>
            <a:outerShdw sx="100000" sy="100000" kx="0" ky="0" algn="bl" rotWithShape="0" blurRad="101600" dist="25400" dir="8100000">
              <a:srgbClr val="000000">
                <a:alpha val="10000"/>
              </a:srgbClr>
            </a:outerShdw>
          </a:effectLst>
        </p:spPr>
      </p:sp>
      <p:sp>
        <p:nvSpPr>
          <p:cNvPr id="26" name="Text 24"/>
          <p:cNvSpPr/>
          <p:nvPr/>
        </p:nvSpPr>
        <p:spPr>
          <a:xfrm>
            <a:off x="868680" y="4718304"/>
            <a:ext cx="5074920" cy="237744"/>
          </a:xfrm>
          <a:prstGeom prst="rect">
            <a:avLst/>
          </a:prstGeom>
          <a:noFill/>
          <a:ln/>
        </p:spPr>
        <p:txBody>
          <a:bodyPr wrap="square" lIns="0" tIns="0" rIns="0" bIns="0" rtlCol="0" anchor="ctr"/>
          <a:lstStyle/>
          <a:p>
            <a:pPr indent="0" marL="0">
              <a:buNone/>
            </a:pPr>
            <a:r>
              <a:rPr lang="en-US" sz="1100" spc="130" kern="0" dirty="0">
                <a:solidFill>
                  <a:srgbClr val="7A9A6A"/>
                </a:solidFill>
                <a:latin typeface="Calibri" pitchFamily="34" charset="0"/>
                <a:ea typeface="Calibri" pitchFamily="34" charset="-122"/>
                <a:cs typeface="Calibri" pitchFamily="34" charset="-120"/>
              </a:rPr>
              <a:t>DANS LE PÉRIMÈTRE</a:t>
            </a:r>
            <a:endParaRPr lang="en-US" sz="1100" dirty="0"/>
          </a:p>
        </p:txBody>
      </p:sp>
      <p:sp>
        <p:nvSpPr>
          <p:cNvPr id="27" name="Text 25"/>
          <p:cNvSpPr/>
          <p:nvPr/>
        </p:nvSpPr>
        <p:spPr>
          <a:xfrm>
            <a:off x="868680" y="5029200"/>
            <a:ext cx="5074920" cy="960120"/>
          </a:xfrm>
          <a:prstGeom prst="rect">
            <a:avLst/>
          </a:prstGeom>
          <a:noFill/>
          <a:ln/>
        </p:spPr>
        <p:txBody>
          <a:bodyPr wrap="square" lIns="0" tIns="0" rIns="0" bIns="0" rtlCol="0" anchor="ctr"/>
          <a:lstStyle/>
          <a:p>
            <a:pPr indent="0" marL="0">
              <a:buNone/>
            </a:pPr>
            <a:r>
              <a:rPr lang="en-US" sz="1500" dirty="0">
                <a:solidFill>
                  <a:srgbClr val="EFE9D9"/>
                </a:solidFill>
                <a:latin typeface="Calibri" pitchFamily="34" charset="0"/>
                <a:ea typeface="Calibri" pitchFamily="34" charset="-122"/>
                <a:cs typeface="Calibri" pitchFamily="34" charset="-120"/>
              </a:rPr>
              <a:t>Web SPA, API REST, Stripe test, IA d'occupation, Docker, 3 rôles.</a:t>
            </a:r>
            <a:endParaRPr lang="en-US" sz="1500" dirty="0"/>
          </a:p>
        </p:txBody>
      </p:sp>
      <p:sp>
        <p:nvSpPr>
          <p:cNvPr id="28" name="Shape 26"/>
          <p:cNvSpPr/>
          <p:nvPr/>
        </p:nvSpPr>
        <p:spPr>
          <a:xfrm>
            <a:off x="6400800" y="4590288"/>
            <a:ext cx="5120640" cy="1645920"/>
          </a:xfrm>
          <a:prstGeom prst="roundRect">
            <a:avLst>
              <a:gd name="adj" fmla="val 4444"/>
            </a:avLst>
          </a:prstGeom>
          <a:solidFill>
            <a:srgbClr val="FFFFFF"/>
          </a:solidFill>
          <a:ln/>
          <a:effectLst>
            <a:outerShdw sx="100000" sy="100000" kx="0" ky="0" algn="bl" rotWithShape="0" blurRad="101600" dist="25400" dir="8100000">
              <a:srgbClr val="000000">
                <a:alpha val="10000"/>
              </a:srgbClr>
            </a:outerShdw>
          </a:effectLst>
        </p:spPr>
      </p:sp>
      <p:sp>
        <p:nvSpPr>
          <p:cNvPr id="29" name="Text 27"/>
          <p:cNvSpPr/>
          <p:nvPr/>
        </p:nvSpPr>
        <p:spPr>
          <a:xfrm>
            <a:off x="6629400" y="4718304"/>
            <a:ext cx="4709160" cy="237744"/>
          </a:xfrm>
          <a:prstGeom prst="rect">
            <a:avLst/>
          </a:prstGeom>
          <a:noFill/>
          <a:ln/>
        </p:spPr>
        <p:txBody>
          <a:bodyPr wrap="square" lIns="0" tIns="0" rIns="0" bIns="0" rtlCol="0" anchor="ctr"/>
          <a:lstStyle/>
          <a:p>
            <a:pPr indent="0" marL="0">
              <a:buNone/>
            </a:pPr>
            <a:r>
              <a:rPr lang="en-US" sz="1100" spc="130" kern="0" dirty="0">
                <a:solidFill>
                  <a:srgbClr val="C26A33"/>
                </a:solidFill>
                <a:latin typeface="Calibri" pitchFamily="34" charset="0"/>
                <a:ea typeface="Calibri" pitchFamily="34" charset="-122"/>
                <a:cs typeface="Calibri" pitchFamily="34" charset="-120"/>
              </a:rPr>
              <a:t>HORS PÉRIMÈTRE</a:t>
            </a:r>
            <a:endParaRPr lang="en-US" sz="1100" dirty="0"/>
          </a:p>
        </p:txBody>
      </p:sp>
      <p:sp>
        <p:nvSpPr>
          <p:cNvPr id="30" name="Text 28"/>
          <p:cNvSpPr/>
          <p:nvPr/>
        </p:nvSpPr>
        <p:spPr>
          <a:xfrm>
            <a:off x="6629400" y="5029200"/>
            <a:ext cx="4709160" cy="96012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Application mobile native, Stripe live, billetterie stade.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ANALYSE DES BESOINS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06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Le trou : match + café + IA.</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10911535" cy="420624"/>
          </a:xfrm>
          <a:prstGeom prst="rect">
            <a:avLst/>
          </a:prstGeom>
          <a:solidFill>
            <a:srgbClr val="3B5D3A"/>
          </a:solidFill>
          <a:ln/>
        </p:spPr>
      </p:sp>
      <p:sp>
        <p:nvSpPr>
          <p:cNvPr id="8" name="Text 6"/>
          <p:cNvSpPr/>
          <p:nvPr/>
        </p:nvSpPr>
        <p:spPr>
          <a:xfrm>
            <a:off x="822960" y="1207008"/>
            <a:ext cx="301752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Solution</a:t>
            </a:r>
            <a:endParaRPr lang="en-US" sz="1300" dirty="0"/>
          </a:p>
        </p:txBody>
      </p:sp>
      <p:sp>
        <p:nvSpPr>
          <p:cNvPr id="9" name="Text 7"/>
          <p:cNvSpPr/>
          <p:nvPr/>
        </p:nvSpPr>
        <p:spPr>
          <a:xfrm>
            <a:off x="4023360" y="1207008"/>
            <a:ext cx="301752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Ce qu'elle fait</a:t>
            </a:r>
            <a:endParaRPr lang="en-US" sz="1300" dirty="0"/>
          </a:p>
        </p:txBody>
      </p:sp>
      <p:sp>
        <p:nvSpPr>
          <p:cNvPr id="10" name="Text 8"/>
          <p:cNvSpPr/>
          <p:nvPr/>
        </p:nvSpPr>
        <p:spPr>
          <a:xfrm>
            <a:off x="7863840" y="1207008"/>
            <a:ext cx="384048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Ce qui manque</a:t>
            </a:r>
            <a:endParaRPr lang="en-US" sz="1300" dirty="0"/>
          </a:p>
        </p:txBody>
      </p:sp>
      <p:sp>
        <p:nvSpPr>
          <p:cNvPr id="11" name="Shape 9"/>
          <p:cNvSpPr/>
          <p:nvPr/>
        </p:nvSpPr>
        <p:spPr>
          <a:xfrm>
            <a:off x="640080" y="1682496"/>
            <a:ext cx="10911535" cy="768096"/>
          </a:xfrm>
          <a:prstGeom prst="rect">
            <a:avLst/>
          </a:prstGeom>
          <a:solidFill>
            <a:srgbClr val="FFFFFF"/>
          </a:solidFill>
          <a:ln/>
        </p:spPr>
      </p:sp>
      <p:sp>
        <p:nvSpPr>
          <p:cNvPr id="12" name="Text 10"/>
          <p:cNvSpPr/>
          <p:nvPr/>
        </p:nvSpPr>
        <p:spPr>
          <a:xfrm>
            <a:off x="822960" y="1682496"/>
            <a:ext cx="3017520" cy="768096"/>
          </a:xfrm>
          <a:prstGeom prst="rect">
            <a:avLst/>
          </a:prstGeom>
          <a:noFill/>
          <a:ln/>
        </p:spPr>
        <p:txBody>
          <a:bodyPr wrap="square" lIns="0" tIns="0" rIns="0" bIns="0" rtlCol="0" anchor="ctr"/>
          <a:lstStyle/>
          <a:p>
            <a:pPr indent="0" marL="0">
              <a:buNone/>
            </a:pPr>
            <a:r>
              <a:rPr lang="en-US" sz="1500" b="1" dirty="0">
                <a:solidFill>
                  <a:srgbClr val="1B2420"/>
                </a:solidFill>
                <a:latin typeface="Calibri" pitchFamily="34" charset="0"/>
                <a:ea typeface="Calibri" pitchFamily="34" charset="-122"/>
                <a:cs typeface="Calibri" pitchFamily="34" charset="-120"/>
              </a:rPr>
              <a:t>TheFork / OpenTable</a:t>
            </a:r>
            <a:endParaRPr lang="en-US" sz="1500" dirty="0"/>
          </a:p>
        </p:txBody>
      </p:sp>
      <p:sp>
        <p:nvSpPr>
          <p:cNvPr id="13" name="Text 11"/>
          <p:cNvSpPr/>
          <p:nvPr/>
        </p:nvSpPr>
        <p:spPr>
          <a:xfrm>
            <a:off x="4023360" y="1682496"/>
            <a:ext cx="3657600" cy="768096"/>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Réservation resto</a:t>
            </a:r>
            <a:endParaRPr lang="en-US" sz="1500" dirty="0"/>
          </a:p>
        </p:txBody>
      </p:sp>
      <p:sp>
        <p:nvSpPr>
          <p:cNvPr id="14" name="Text 12"/>
          <p:cNvSpPr/>
          <p:nvPr/>
        </p:nvSpPr>
        <p:spPr>
          <a:xfrm>
            <a:off x="7863840" y="1682496"/>
            <a:ext cx="4023360" cy="768096"/>
          </a:xfrm>
          <a:prstGeom prst="rect">
            <a:avLst/>
          </a:prstGeom>
          <a:noFill/>
          <a:ln/>
        </p:spPr>
        <p:txBody>
          <a:bodyPr wrap="square" lIns="0" tIns="0" rIns="0" bIns="0" rtlCol="0" anchor="ctr"/>
          <a:lstStyle/>
          <a:p>
            <a:pPr indent="0" marL="0">
              <a:buNone/>
            </a:pPr>
            <a:r>
              <a:rPr lang="en-US" sz="1500" dirty="0">
                <a:solidFill>
                  <a:srgbClr val="C26A33"/>
                </a:solidFill>
                <a:latin typeface="Calibri" pitchFamily="34" charset="0"/>
                <a:ea typeface="Calibri" pitchFamily="34" charset="-122"/>
                <a:cs typeface="Calibri" pitchFamily="34" charset="-120"/>
              </a:rPr>
              <a:t>Pas de calendrier sport</a:t>
            </a:r>
            <a:endParaRPr lang="en-US" sz="1500" dirty="0"/>
          </a:p>
        </p:txBody>
      </p:sp>
      <p:sp>
        <p:nvSpPr>
          <p:cNvPr id="15" name="Shape 13"/>
          <p:cNvSpPr/>
          <p:nvPr/>
        </p:nvSpPr>
        <p:spPr>
          <a:xfrm>
            <a:off x="640080" y="2505456"/>
            <a:ext cx="10911535" cy="768096"/>
          </a:xfrm>
          <a:prstGeom prst="rect">
            <a:avLst/>
          </a:prstGeom>
          <a:solidFill>
            <a:srgbClr val="E8DFC8"/>
          </a:solidFill>
          <a:ln/>
        </p:spPr>
      </p:sp>
      <p:sp>
        <p:nvSpPr>
          <p:cNvPr id="16" name="Text 14"/>
          <p:cNvSpPr/>
          <p:nvPr/>
        </p:nvSpPr>
        <p:spPr>
          <a:xfrm>
            <a:off x="822960" y="2505456"/>
            <a:ext cx="3017520" cy="768096"/>
          </a:xfrm>
          <a:prstGeom prst="rect">
            <a:avLst/>
          </a:prstGeom>
          <a:noFill/>
          <a:ln/>
        </p:spPr>
        <p:txBody>
          <a:bodyPr wrap="square" lIns="0" tIns="0" rIns="0" bIns="0" rtlCol="0" anchor="ctr"/>
          <a:lstStyle/>
          <a:p>
            <a:pPr indent="0" marL="0">
              <a:buNone/>
            </a:pPr>
            <a:r>
              <a:rPr lang="en-US" sz="1500" b="1" dirty="0">
                <a:solidFill>
                  <a:srgbClr val="1B2420"/>
                </a:solidFill>
                <a:latin typeface="Calibri" pitchFamily="34" charset="0"/>
                <a:ea typeface="Calibri" pitchFamily="34" charset="-122"/>
                <a:cs typeface="Calibri" pitchFamily="34" charset="-120"/>
              </a:rPr>
              <a:t>Billetterie stade</a:t>
            </a:r>
            <a:endParaRPr lang="en-US" sz="1500" dirty="0"/>
          </a:p>
        </p:txBody>
      </p:sp>
      <p:sp>
        <p:nvSpPr>
          <p:cNvPr id="17" name="Text 15"/>
          <p:cNvSpPr/>
          <p:nvPr/>
        </p:nvSpPr>
        <p:spPr>
          <a:xfrm>
            <a:off x="4023360" y="2505456"/>
            <a:ext cx="3657600" cy="768096"/>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Tickets d'événement</a:t>
            </a:r>
            <a:endParaRPr lang="en-US" sz="1500" dirty="0"/>
          </a:p>
        </p:txBody>
      </p:sp>
      <p:sp>
        <p:nvSpPr>
          <p:cNvPr id="18" name="Text 16"/>
          <p:cNvSpPr/>
          <p:nvPr/>
        </p:nvSpPr>
        <p:spPr>
          <a:xfrm>
            <a:off x="7863840" y="2505456"/>
            <a:ext cx="4023360" cy="768096"/>
          </a:xfrm>
          <a:prstGeom prst="rect">
            <a:avLst/>
          </a:prstGeom>
          <a:noFill/>
          <a:ln/>
        </p:spPr>
        <p:txBody>
          <a:bodyPr wrap="square" lIns="0" tIns="0" rIns="0" bIns="0" rtlCol="0" anchor="ctr"/>
          <a:lstStyle/>
          <a:p>
            <a:pPr indent="0" marL="0">
              <a:buNone/>
            </a:pPr>
            <a:r>
              <a:rPr lang="en-US" sz="1500" dirty="0">
                <a:solidFill>
                  <a:srgbClr val="C26A33"/>
                </a:solidFill>
                <a:latin typeface="Calibri" pitchFamily="34" charset="0"/>
                <a:ea typeface="Calibri" pitchFamily="34" charset="-122"/>
                <a:cs typeface="Calibri" pitchFamily="34" charset="-120"/>
              </a:rPr>
              <a:t>Ignore les cafés de diffusion</a:t>
            </a:r>
            <a:endParaRPr lang="en-US" sz="1500" dirty="0"/>
          </a:p>
        </p:txBody>
      </p:sp>
      <p:sp>
        <p:nvSpPr>
          <p:cNvPr id="19" name="Shape 17"/>
          <p:cNvSpPr/>
          <p:nvPr/>
        </p:nvSpPr>
        <p:spPr>
          <a:xfrm>
            <a:off x="640080" y="3328416"/>
            <a:ext cx="10911535" cy="768096"/>
          </a:xfrm>
          <a:prstGeom prst="rect">
            <a:avLst/>
          </a:prstGeom>
          <a:solidFill>
            <a:srgbClr val="FFFFFF"/>
          </a:solidFill>
          <a:ln/>
        </p:spPr>
      </p:sp>
      <p:sp>
        <p:nvSpPr>
          <p:cNvPr id="20" name="Text 18"/>
          <p:cNvSpPr/>
          <p:nvPr/>
        </p:nvSpPr>
        <p:spPr>
          <a:xfrm>
            <a:off x="822960" y="3328416"/>
            <a:ext cx="3017520" cy="768096"/>
          </a:xfrm>
          <a:prstGeom prst="rect">
            <a:avLst/>
          </a:prstGeom>
          <a:noFill/>
          <a:ln/>
        </p:spPr>
        <p:txBody>
          <a:bodyPr wrap="square" lIns="0" tIns="0" rIns="0" bIns="0" rtlCol="0" anchor="ctr"/>
          <a:lstStyle/>
          <a:p>
            <a:pPr indent="0" marL="0">
              <a:buNone/>
            </a:pPr>
            <a:r>
              <a:rPr lang="en-US" sz="1500" b="1" dirty="0">
                <a:solidFill>
                  <a:srgbClr val="1B2420"/>
                </a:solidFill>
                <a:latin typeface="Calibri" pitchFamily="34" charset="0"/>
                <a:ea typeface="Calibri" pitchFamily="34" charset="-122"/>
                <a:cs typeface="Calibri" pitchFamily="34" charset="-120"/>
              </a:rPr>
              <a:t>WhatsApp / Facebook</a:t>
            </a:r>
            <a:endParaRPr lang="en-US" sz="1500" dirty="0"/>
          </a:p>
        </p:txBody>
      </p:sp>
      <p:sp>
        <p:nvSpPr>
          <p:cNvPr id="21" name="Text 19"/>
          <p:cNvSpPr/>
          <p:nvPr/>
        </p:nvSpPr>
        <p:spPr>
          <a:xfrm>
            <a:off x="4023360" y="3328416"/>
            <a:ext cx="3657600" cy="768096"/>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Simple, déjà adopté</a:t>
            </a:r>
            <a:endParaRPr lang="en-US" sz="1500" dirty="0"/>
          </a:p>
        </p:txBody>
      </p:sp>
      <p:sp>
        <p:nvSpPr>
          <p:cNvPr id="22" name="Text 20"/>
          <p:cNvSpPr/>
          <p:nvPr/>
        </p:nvSpPr>
        <p:spPr>
          <a:xfrm>
            <a:off x="7863840" y="3328416"/>
            <a:ext cx="4023360" cy="768096"/>
          </a:xfrm>
          <a:prstGeom prst="rect">
            <a:avLst/>
          </a:prstGeom>
          <a:noFill/>
          <a:ln/>
        </p:spPr>
        <p:txBody>
          <a:bodyPr wrap="square" lIns="0" tIns="0" rIns="0" bIns="0" rtlCol="0" anchor="ctr"/>
          <a:lstStyle/>
          <a:p>
            <a:pPr indent="0" marL="0">
              <a:buNone/>
            </a:pPr>
            <a:r>
              <a:rPr lang="en-US" sz="1500" dirty="0">
                <a:solidFill>
                  <a:srgbClr val="C26A33"/>
                </a:solidFill>
                <a:latin typeface="Calibri" pitchFamily="34" charset="0"/>
                <a:ea typeface="Calibri" pitchFamily="34" charset="-122"/>
                <a:cs typeface="Calibri" pitchFamily="34" charset="-120"/>
              </a:rPr>
              <a:t>Pas d'occupation ni de paiement</a:t>
            </a:r>
            <a:endParaRPr lang="en-US" sz="1500" dirty="0"/>
          </a:p>
        </p:txBody>
      </p:sp>
      <p:sp>
        <p:nvSpPr>
          <p:cNvPr id="23" name="Shape 21"/>
          <p:cNvSpPr/>
          <p:nvPr/>
        </p:nvSpPr>
        <p:spPr>
          <a:xfrm>
            <a:off x="640080" y="4151376"/>
            <a:ext cx="10911535" cy="768096"/>
          </a:xfrm>
          <a:prstGeom prst="rect">
            <a:avLst/>
          </a:prstGeom>
          <a:solidFill>
            <a:srgbClr val="E8DFC8"/>
          </a:solidFill>
          <a:ln/>
        </p:spPr>
      </p:sp>
      <p:sp>
        <p:nvSpPr>
          <p:cNvPr id="24" name="Text 22"/>
          <p:cNvSpPr/>
          <p:nvPr/>
        </p:nvSpPr>
        <p:spPr>
          <a:xfrm>
            <a:off x="822960" y="4151376"/>
            <a:ext cx="3017520" cy="768096"/>
          </a:xfrm>
          <a:prstGeom prst="rect">
            <a:avLst/>
          </a:prstGeom>
          <a:noFill/>
          <a:ln/>
        </p:spPr>
        <p:txBody>
          <a:bodyPr wrap="square" lIns="0" tIns="0" rIns="0" bIns="0" rtlCol="0" anchor="ctr"/>
          <a:lstStyle/>
          <a:p>
            <a:pPr indent="0" marL="0">
              <a:buNone/>
            </a:pPr>
            <a:r>
              <a:rPr lang="en-US" sz="1500" b="1" dirty="0">
                <a:solidFill>
                  <a:srgbClr val="1B2420"/>
                </a:solidFill>
                <a:latin typeface="Calibri" pitchFamily="34" charset="0"/>
                <a:ea typeface="Calibri" pitchFamily="34" charset="-122"/>
                <a:cs typeface="Calibri" pitchFamily="34" charset="-120"/>
              </a:rPr>
              <a:t>Sites de cafés isolés</a:t>
            </a:r>
            <a:endParaRPr lang="en-US" sz="1500" dirty="0"/>
          </a:p>
        </p:txBody>
      </p:sp>
      <p:sp>
        <p:nvSpPr>
          <p:cNvPr id="25" name="Text 23"/>
          <p:cNvSpPr/>
          <p:nvPr/>
        </p:nvSpPr>
        <p:spPr>
          <a:xfrm>
            <a:off x="4023360" y="4151376"/>
            <a:ext cx="3657600" cy="768096"/>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Identité du lieu</a:t>
            </a:r>
            <a:endParaRPr lang="en-US" sz="1500" dirty="0"/>
          </a:p>
        </p:txBody>
      </p:sp>
      <p:sp>
        <p:nvSpPr>
          <p:cNvPr id="26" name="Text 24"/>
          <p:cNvSpPr/>
          <p:nvPr/>
        </p:nvSpPr>
        <p:spPr>
          <a:xfrm>
            <a:off x="7863840" y="4151376"/>
            <a:ext cx="4023360" cy="768096"/>
          </a:xfrm>
          <a:prstGeom prst="rect">
            <a:avLst/>
          </a:prstGeom>
          <a:noFill/>
          <a:ln/>
        </p:spPr>
        <p:txBody>
          <a:bodyPr wrap="square" lIns="0" tIns="0" rIns="0" bIns="0" rtlCol="0" anchor="ctr"/>
          <a:lstStyle/>
          <a:p>
            <a:pPr indent="0" marL="0">
              <a:buNone/>
            </a:pPr>
            <a:r>
              <a:rPr lang="en-US" sz="1500" dirty="0">
                <a:solidFill>
                  <a:srgbClr val="C26A33"/>
                </a:solidFill>
                <a:latin typeface="Calibri" pitchFamily="34" charset="0"/>
                <a:ea typeface="Calibri" pitchFamily="34" charset="-122"/>
                <a:cs typeface="Calibri" pitchFamily="34" charset="-120"/>
              </a:rPr>
              <a:t>Pas de vision multi-établissements</a:t>
            </a:r>
            <a:endParaRPr lang="en-US" sz="1500" dirty="0"/>
          </a:p>
        </p:txBody>
      </p:sp>
      <p:sp>
        <p:nvSpPr>
          <p:cNvPr id="27" name="Text 25"/>
          <p:cNvSpPr/>
          <p:nvPr/>
        </p:nvSpPr>
        <p:spPr>
          <a:xfrm>
            <a:off x="640080" y="5074920"/>
            <a:ext cx="10911535" cy="1097280"/>
          </a:xfrm>
          <a:prstGeom prst="rect">
            <a:avLst/>
          </a:prstGeom>
          <a:noFill/>
          <a:ln/>
        </p:spPr>
        <p:txBody>
          <a:bodyPr wrap="square" lIns="0" tIns="0" rIns="0" bIns="0" rtlCol="0" anchor="ctr"/>
          <a:lstStyle/>
          <a:p>
            <a:pPr indent="0" marL="0">
              <a:buNone/>
            </a:pPr>
            <a:r>
              <a:rPr lang="en-US" sz="1600" i="1" dirty="0">
                <a:solidFill>
                  <a:srgbClr val="2C4A2B"/>
                </a:solidFill>
                <a:latin typeface="Georgia" pitchFamily="34" charset="0"/>
                <a:ea typeface="Georgia" pitchFamily="34" charset="-122"/>
                <a:cs typeface="Georgia" pitchFamily="34" charset="-120"/>
              </a:rPr>
              <a:t>Aucune offre n'unit calendrier football, géolocalisation, réservation, paiement et occupation prédictive.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FONCTIONNALITÉS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07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Neuf exigences, trois acteurs.</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170432"/>
          <a:ext cx="7635240" cy="5029200"/>
        </p:xfrm>
        <a:graphic>
          <a:graphicData uri="http://schemas.openxmlformats.org/drawingml/2006/table">
            <a:tbl>
              <a:tblPr/>
              <a:tblGrid>
                <a:gridCol w="1097280"/>
                <a:gridCol w="4800600"/>
                <a:gridCol w="173736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3B5D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Fonctionnalité</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3B5D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Acteur</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3B5D3A"/>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EF01</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Inscription et authentification JWT</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Tous</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EF02</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Match Center Coupe du Monde</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EF03</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Recherche et filtrage des établissements</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EF04</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Wizard de réservation multi-étapes</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EF05</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Paiement en ligne Stripe</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EF06</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Recommandations (proximité + affluence)</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EF07</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Prédiction d'occupation (IA)</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Fan / Owner</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EF08</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Gestion business, occupation, check-in QR</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E8DFC8"/>
                    </a:solidFill>
                  </a:tcPr>
                </a:tc>
              </a:tr>
              <a:tr h="502920">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EF09</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20"/>
                          </a:solidFill>
                          <a:latin typeface="Calibri" pitchFamily="34" charset="0"/>
                          <a:ea typeface="Calibri" pitchFamily="34" charset="-122"/>
                          <a:cs typeface="Calibri" pitchFamily="34" charset="-120"/>
                        </a:rPr>
                        <a:t>Modération, analytics, compétitions</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20"/>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91440" marR="91440" marT="45720" marB="4572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bl>
          </a:graphicData>
        </a:graphic>
      </p:graphicFrame>
      <p:sp>
        <p:nvSpPr>
          <p:cNvPr id="8" name="Shape 5"/>
          <p:cNvSpPr/>
          <p:nvPr/>
        </p:nvSpPr>
        <p:spPr>
          <a:xfrm>
            <a:off x="8458200" y="1170432"/>
            <a:ext cx="3108960" cy="5029200"/>
          </a:xfrm>
          <a:prstGeom prst="roundRect">
            <a:avLst>
              <a:gd name="adj" fmla="val 2353"/>
            </a:avLst>
          </a:prstGeom>
          <a:solidFill>
            <a:srgbClr val="FFFFFF"/>
          </a:solidFill>
          <a:ln/>
          <a:effectLst>
            <a:outerShdw sx="100000" sy="100000" kx="0" ky="0" algn="bl" rotWithShape="0" blurRad="101600" dist="25400" dir="8100000">
              <a:srgbClr val="000000">
                <a:alpha val="10000"/>
              </a:srgbClr>
            </a:outerShdw>
          </a:effectLst>
        </p:spPr>
      </p:sp>
      <p:sp>
        <p:nvSpPr>
          <p:cNvPr id="9" name="Text 6"/>
          <p:cNvSpPr/>
          <p:nvPr/>
        </p:nvSpPr>
        <p:spPr>
          <a:xfrm>
            <a:off x="8686800" y="1353312"/>
            <a:ext cx="2697480" cy="237744"/>
          </a:xfrm>
          <a:prstGeom prst="rect">
            <a:avLst/>
          </a:prstGeom>
          <a:noFill/>
          <a:ln/>
        </p:spPr>
        <p:txBody>
          <a:bodyPr wrap="square" lIns="0" tIns="0" rIns="0" bIns="0" rtlCol="0" anchor="ctr"/>
          <a:lstStyle/>
          <a:p>
            <a:pPr indent="0" marL="0">
              <a:buNone/>
            </a:pPr>
            <a:r>
              <a:rPr lang="en-US" sz="1200" spc="150" kern="0" dirty="0">
                <a:solidFill>
                  <a:srgbClr val="C26A33"/>
                </a:solidFill>
                <a:latin typeface="Calibri" pitchFamily="34" charset="0"/>
                <a:ea typeface="Calibri" pitchFamily="34" charset="-122"/>
                <a:cs typeface="Calibri" pitchFamily="34" charset="-120"/>
              </a:rPr>
              <a:t>ENF</a:t>
            </a:r>
            <a:endParaRPr lang="en-US" sz="1200" dirty="0"/>
          </a:p>
        </p:txBody>
      </p:sp>
      <p:sp>
        <p:nvSpPr>
          <p:cNvPr id="10" name="Text 7"/>
          <p:cNvSpPr/>
          <p:nvPr/>
        </p:nvSpPr>
        <p:spPr>
          <a:xfrm>
            <a:off x="8686800" y="17190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Sécurité</a:t>
            </a:r>
            <a:endParaRPr lang="en-US" sz="1400" dirty="0"/>
          </a:p>
        </p:txBody>
      </p:sp>
      <p:sp>
        <p:nvSpPr>
          <p:cNvPr id="11" name="Text 8"/>
          <p:cNvSpPr/>
          <p:nvPr/>
        </p:nvSpPr>
        <p:spPr>
          <a:xfrm>
            <a:off x="8686800" y="19568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JWT, rôles, secrets .env</a:t>
            </a:r>
            <a:endParaRPr lang="en-US" sz="1300" dirty="0"/>
          </a:p>
        </p:txBody>
      </p:sp>
      <p:sp>
        <p:nvSpPr>
          <p:cNvPr id="12" name="Text 9"/>
          <p:cNvSpPr/>
          <p:nvPr/>
        </p:nvSpPr>
        <p:spPr>
          <a:xfrm>
            <a:off x="8686800" y="24048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Performance</a:t>
            </a:r>
            <a:endParaRPr lang="en-US" sz="1400" dirty="0"/>
          </a:p>
        </p:txBody>
      </p:sp>
      <p:sp>
        <p:nvSpPr>
          <p:cNvPr id="13" name="Text 10"/>
          <p:cNvSpPr/>
          <p:nvPr/>
        </p:nvSpPr>
        <p:spPr>
          <a:xfrm>
            <a:off x="8686800" y="26426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API métier &lt; 2 s</a:t>
            </a:r>
            <a:endParaRPr lang="en-US" sz="1300" dirty="0"/>
          </a:p>
        </p:txBody>
      </p:sp>
      <p:sp>
        <p:nvSpPr>
          <p:cNvPr id="14" name="Text 11"/>
          <p:cNvSpPr/>
          <p:nvPr/>
        </p:nvSpPr>
        <p:spPr>
          <a:xfrm>
            <a:off x="8686800" y="30906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Maintenabilité</a:t>
            </a:r>
            <a:endParaRPr lang="en-US" sz="1400" dirty="0"/>
          </a:p>
        </p:txBody>
      </p:sp>
      <p:sp>
        <p:nvSpPr>
          <p:cNvPr id="15" name="Text 12"/>
          <p:cNvSpPr/>
          <p:nvPr/>
        </p:nvSpPr>
        <p:spPr>
          <a:xfrm>
            <a:off x="8686800" y="33284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Couches, Flyway, OpenAPI</a:t>
            </a:r>
            <a:endParaRPr lang="en-US" sz="1300" dirty="0"/>
          </a:p>
        </p:txBody>
      </p:sp>
      <p:sp>
        <p:nvSpPr>
          <p:cNvPr id="16" name="Text 13"/>
          <p:cNvSpPr/>
          <p:nvPr/>
        </p:nvSpPr>
        <p:spPr>
          <a:xfrm>
            <a:off x="8686800" y="37764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Portabilité</a:t>
            </a:r>
            <a:endParaRPr lang="en-US" sz="1400" dirty="0"/>
          </a:p>
        </p:txBody>
      </p:sp>
      <p:sp>
        <p:nvSpPr>
          <p:cNvPr id="17" name="Text 14"/>
          <p:cNvSpPr/>
          <p:nvPr/>
        </p:nvSpPr>
        <p:spPr>
          <a:xfrm>
            <a:off x="8686800" y="40142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Docker Compose</a:t>
            </a:r>
            <a:endParaRPr lang="en-US" sz="1300" dirty="0"/>
          </a:p>
        </p:txBody>
      </p:sp>
      <p:sp>
        <p:nvSpPr>
          <p:cNvPr id="18" name="Text 15"/>
          <p:cNvSpPr/>
          <p:nvPr/>
        </p:nvSpPr>
        <p:spPr>
          <a:xfrm>
            <a:off x="8686800" y="44622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UI</a:t>
            </a:r>
            <a:endParaRPr lang="en-US" sz="1400" dirty="0"/>
          </a:p>
        </p:txBody>
      </p:sp>
      <p:sp>
        <p:nvSpPr>
          <p:cNvPr id="19" name="Text 16"/>
          <p:cNvSpPr/>
          <p:nvPr/>
        </p:nvSpPr>
        <p:spPr>
          <a:xfrm>
            <a:off x="8686800" y="47000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Responsive, 3 espaces</a:t>
            </a:r>
            <a:endParaRPr lang="en-US" sz="1300" dirty="0"/>
          </a:p>
        </p:txBody>
      </p:sp>
      <p:sp>
        <p:nvSpPr>
          <p:cNvPr id="20" name="Text 17"/>
          <p:cNvSpPr/>
          <p:nvPr/>
        </p:nvSpPr>
        <p:spPr>
          <a:xfrm>
            <a:off x="8686800" y="5148072"/>
            <a:ext cx="2697480" cy="219456"/>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Paiement</a:t>
            </a:r>
            <a:endParaRPr lang="en-US" sz="1400" dirty="0"/>
          </a:p>
        </p:txBody>
      </p:sp>
      <p:sp>
        <p:nvSpPr>
          <p:cNvPr id="21" name="Text 18"/>
          <p:cNvSpPr/>
          <p:nvPr/>
        </p:nvSpPr>
        <p:spPr>
          <a:xfrm>
            <a:off x="8686800" y="5385816"/>
            <a:ext cx="2697480" cy="34747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PCI-DSS via Stripe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CONCEPTION UML</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08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Trois acteurs, un modèle métier.</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pic>
        <p:nvPicPr>
          <p:cNvPr id="7" name="Image 0" descr="Cas d'utilisation">    </p:cNvPr>
          <p:cNvPicPr>
            <a:picLocks noChangeAspect="1"/>
          </p:cNvPicPr>
          <p:nvPr/>
        </p:nvPicPr>
        <p:blipFill>
          <a:blip r:embed="rId1"/>
          <a:stretch>
            <a:fillRect/>
          </a:stretch>
        </p:blipFill>
        <p:spPr>
          <a:xfrm>
            <a:off x="640080" y="1170432"/>
            <a:ext cx="5623560" cy="4175673"/>
          </a:xfrm>
          <a:prstGeom prst="rect">
            <a:avLst/>
          </a:prstGeom>
        </p:spPr>
      </p:pic>
      <p:sp>
        <p:nvSpPr>
          <p:cNvPr id="8" name="Shape 5"/>
          <p:cNvSpPr/>
          <p:nvPr/>
        </p:nvSpPr>
        <p:spPr>
          <a:xfrm>
            <a:off x="6537960" y="1170432"/>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9" name="Text 6"/>
          <p:cNvSpPr/>
          <p:nvPr/>
        </p:nvSpPr>
        <p:spPr>
          <a:xfrm>
            <a:off x="6720840" y="1170432"/>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User</a:t>
            </a:r>
            <a:endParaRPr lang="en-US" sz="1400" dirty="0"/>
          </a:p>
        </p:txBody>
      </p:sp>
      <p:sp>
        <p:nvSpPr>
          <p:cNvPr id="10" name="Text 7"/>
          <p:cNvSpPr/>
          <p:nvPr/>
        </p:nvSpPr>
        <p:spPr>
          <a:xfrm>
            <a:off x="8823960" y="1170432"/>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FAN / OWNER / ADMIN</a:t>
            </a:r>
            <a:endParaRPr lang="en-US" sz="1300" dirty="0"/>
          </a:p>
        </p:txBody>
      </p:sp>
      <p:sp>
        <p:nvSpPr>
          <p:cNvPr id="11" name="Shape 8"/>
          <p:cNvSpPr/>
          <p:nvPr/>
        </p:nvSpPr>
        <p:spPr>
          <a:xfrm>
            <a:off x="6537960" y="1975104"/>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12" name="Text 9"/>
          <p:cNvSpPr/>
          <p:nvPr/>
        </p:nvSpPr>
        <p:spPr>
          <a:xfrm>
            <a:off x="6720840" y="1975104"/>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Business</a:t>
            </a:r>
            <a:endParaRPr lang="en-US" sz="1400" dirty="0"/>
          </a:p>
        </p:txBody>
      </p:sp>
      <p:sp>
        <p:nvSpPr>
          <p:cNvPr id="13" name="Text 10"/>
          <p:cNvSpPr/>
          <p:nvPr/>
        </p:nvSpPr>
        <p:spPr>
          <a:xfrm>
            <a:off x="8823960" y="1975104"/>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Café, capacité, statut</a:t>
            </a:r>
            <a:endParaRPr lang="en-US" sz="1300" dirty="0"/>
          </a:p>
        </p:txBody>
      </p:sp>
      <p:sp>
        <p:nvSpPr>
          <p:cNvPr id="14" name="Shape 11"/>
          <p:cNvSpPr/>
          <p:nvPr/>
        </p:nvSpPr>
        <p:spPr>
          <a:xfrm>
            <a:off x="6537960" y="2779776"/>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15" name="Text 12"/>
          <p:cNvSpPr/>
          <p:nvPr/>
        </p:nvSpPr>
        <p:spPr>
          <a:xfrm>
            <a:off x="6720840" y="2779776"/>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FootballMatch</a:t>
            </a:r>
            <a:endParaRPr lang="en-US" sz="1400" dirty="0"/>
          </a:p>
        </p:txBody>
      </p:sp>
      <p:sp>
        <p:nvSpPr>
          <p:cNvPr id="16" name="Text 13"/>
          <p:cNvSpPr/>
          <p:nvPr/>
        </p:nvSpPr>
        <p:spPr>
          <a:xfrm>
            <a:off x="8823960" y="2779776"/>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Compétition, kickoff</a:t>
            </a:r>
            <a:endParaRPr lang="en-US" sz="1300" dirty="0"/>
          </a:p>
        </p:txBody>
      </p:sp>
      <p:sp>
        <p:nvSpPr>
          <p:cNvPr id="17" name="Shape 14"/>
          <p:cNvSpPr/>
          <p:nvPr/>
        </p:nvSpPr>
        <p:spPr>
          <a:xfrm>
            <a:off x="6537960" y="3584448"/>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18" name="Text 15"/>
          <p:cNvSpPr/>
          <p:nvPr/>
        </p:nvSpPr>
        <p:spPr>
          <a:xfrm>
            <a:off x="6720840" y="3584448"/>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Reservation</a:t>
            </a:r>
            <a:endParaRPr lang="en-US" sz="1400" dirty="0"/>
          </a:p>
        </p:txBody>
      </p:sp>
      <p:sp>
        <p:nvSpPr>
          <p:cNvPr id="19" name="Text 16"/>
          <p:cNvSpPr/>
          <p:nvPr/>
        </p:nvSpPr>
        <p:spPr>
          <a:xfrm>
            <a:off x="8823960" y="3584448"/>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Statut, ticket QR</a:t>
            </a:r>
            <a:endParaRPr lang="en-US" sz="1300" dirty="0"/>
          </a:p>
        </p:txBody>
      </p:sp>
      <p:sp>
        <p:nvSpPr>
          <p:cNvPr id="20" name="Shape 17"/>
          <p:cNvSpPr/>
          <p:nvPr/>
        </p:nvSpPr>
        <p:spPr>
          <a:xfrm>
            <a:off x="6537960" y="4389120"/>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21" name="Text 18"/>
          <p:cNvSpPr/>
          <p:nvPr/>
        </p:nvSpPr>
        <p:spPr>
          <a:xfrm>
            <a:off x="6720840" y="4389120"/>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Payment</a:t>
            </a:r>
            <a:endParaRPr lang="en-US" sz="1400" dirty="0"/>
          </a:p>
        </p:txBody>
      </p:sp>
      <p:sp>
        <p:nvSpPr>
          <p:cNvPr id="22" name="Text 19"/>
          <p:cNvSpPr/>
          <p:nvPr/>
        </p:nvSpPr>
        <p:spPr>
          <a:xfrm>
            <a:off x="8823960" y="4389120"/>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Stripe, commission</a:t>
            </a:r>
            <a:endParaRPr lang="en-US" sz="1300" dirty="0"/>
          </a:p>
        </p:txBody>
      </p:sp>
      <p:sp>
        <p:nvSpPr>
          <p:cNvPr id="23" name="Shape 20"/>
          <p:cNvSpPr/>
          <p:nvPr/>
        </p:nvSpPr>
        <p:spPr>
          <a:xfrm>
            <a:off x="6537960" y="5193792"/>
            <a:ext cx="4983480" cy="713232"/>
          </a:xfrm>
          <a:prstGeom prst="roundRect">
            <a:avLst>
              <a:gd name="adj" fmla="val 10256"/>
            </a:avLst>
          </a:prstGeom>
          <a:solidFill>
            <a:srgbClr val="FFFFFF"/>
          </a:solidFill>
          <a:ln/>
          <a:effectLst>
            <a:outerShdw sx="100000" sy="100000" kx="0" ky="0" algn="bl" rotWithShape="0" blurRad="101600" dist="25400" dir="8100000">
              <a:srgbClr val="000000">
                <a:alpha val="10000"/>
              </a:srgbClr>
            </a:outerShdw>
          </a:effectLst>
        </p:spPr>
      </p:sp>
      <p:sp>
        <p:nvSpPr>
          <p:cNvPr id="24" name="Text 21"/>
          <p:cNvSpPr/>
          <p:nvPr/>
        </p:nvSpPr>
        <p:spPr>
          <a:xfrm>
            <a:off x="6720840" y="5193792"/>
            <a:ext cx="2057400" cy="713232"/>
          </a:xfrm>
          <a:prstGeom prst="rect">
            <a:avLst/>
          </a:prstGeom>
          <a:noFill/>
          <a:ln/>
        </p:spPr>
        <p:txBody>
          <a:bodyPr wrap="square" lIns="0" tIns="0" rIns="0" bIns="0" rtlCol="0" anchor="ctr"/>
          <a:lstStyle/>
          <a:p>
            <a:pPr indent="0" marL="0">
              <a:buNone/>
            </a:pPr>
            <a:r>
              <a:rPr lang="en-US" sz="1400" dirty="0">
                <a:solidFill>
                  <a:srgbClr val="3B5D3A"/>
                </a:solidFill>
                <a:latin typeface="Georgia" pitchFamily="34" charset="0"/>
                <a:ea typeface="Georgia" pitchFamily="34" charset="-122"/>
                <a:cs typeface="Georgia" pitchFamily="34" charset="-120"/>
              </a:rPr>
              <a:t>Occupancy</a:t>
            </a:r>
            <a:endParaRPr lang="en-US" sz="1400" dirty="0"/>
          </a:p>
        </p:txBody>
      </p:sp>
      <p:sp>
        <p:nvSpPr>
          <p:cNvPr id="25" name="Text 22"/>
          <p:cNvSpPr/>
          <p:nvPr/>
        </p:nvSpPr>
        <p:spPr>
          <a:xfrm>
            <a:off x="8823960" y="5193792"/>
            <a:ext cx="2468880" cy="713232"/>
          </a:xfrm>
          <a:prstGeom prst="rect">
            <a:avLst/>
          </a:prstGeom>
          <a:noFill/>
          <a:ln/>
        </p:spPr>
        <p:txBody>
          <a:bodyPr wrap="square" lIns="0" tIns="0" rIns="0" bIns="0" rtlCol="0" anchor="ctr"/>
          <a:lstStyle/>
          <a:p>
            <a:pPr indent="0" marL="0">
              <a:buNone/>
            </a:pPr>
            <a:r>
              <a:rPr lang="en-US" sz="1300" dirty="0">
                <a:solidFill>
                  <a:srgbClr val="3B3F3A"/>
                </a:solidFill>
                <a:latin typeface="Calibri" pitchFamily="34" charset="0"/>
                <a:ea typeface="Calibri" pitchFamily="34" charset="-122"/>
                <a:cs typeface="Calibri" pitchFamily="34" charset="-120"/>
              </a:rPr>
              <a:t>Live + snapshots IA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09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3-tiers + microservice IA.</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6720840" cy="1417320"/>
          </a:xfrm>
          <a:prstGeom prst="roundRect">
            <a:avLst>
              <a:gd name="adj" fmla="val 5161"/>
            </a:avLst>
          </a:prstGeom>
          <a:solidFill>
            <a:srgbClr val="FFFFFF"/>
          </a:solidFill>
          <a:ln/>
          <a:effectLst>
            <a:outerShdw sx="100000" sy="100000" kx="0" ky="0" algn="bl" rotWithShape="0" blurRad="101600" dist="25400" dir="8100000">
              <a:srgbClr val="000000">
                <a:alpha val="10000"/>
              </a:srgbClr>
            </a:outerShdw>
          </a:effectLst>
        </p:spPr>
      </p:sp>
      <p:sp>
        <p:nvSpPr>
          <p:cNvPr id="8" name="Shape 6"/>
          <p:cNvSpPr/>
          <p:nvPr/>
        </p:nvSpPr>
        <p:spPr>
          <a:xfrm>
            <a:off x="640080" y="1207008"/>
            <a:ext cx="128016" cy="1417320"/>
          </a:xfrm>
          <a:prstGeom prst="rect">
            <a:avLst/>
          </a:prstGeom>
          <a:solidFill>
            <a:srgbClr val="3B5D3A"/>
          </a:solidFill>
          <a:ln/>
        </p:spPr>
      </p:sp>
      <p:sp>
        <p:nvSpPr>
          <p:cNvPr id="9" name="Text 7"/>
          <p:cNvSpPr/>
          <p:nvPr/>
        </p:nvSpPr>
        <p:spPr>
          <a:xfrm>
            <a:off x="1005840" y="1389888"/>
            <a:ext cx="6126480" cy="36576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Présentation</a:t>
            </a:r>
            <a:endParaRPr lang="en-US" sz="2000" dirty="0"/>
          </a:p>
        </p:txBody>
      </p:sp>
      <p:sp>
        <p:nvSpPr>
          <p:cNvPr id="10" name="Text 8"/>
          <p:cNvSpPr/>
          <p:nvPr/>
        </p:nvSpPr>
        <p:spPr>
          <a:xfrm>
            <a:off x="1005840" y="1828800"/>
            <a:ext cx="6126480" cy="594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React 18 · Vite · Tailwind</a:t>
            </a:r>
            <a:endParaRPr lang="en-US" sz="1500" dirty="0"/>
          </a:p>
          <a:p>
            <a:pPr indent="0" marL="0">
              <a:buNone/>
            </a:pPr>
            <a:r>
              <a:rPr lang="en-US" sz="1500" dirty="0">
                <a:solidFill>
                  <a:srgbClr val="3B3F3A"/>
                </a:solidFill>
                <a:latin typeface="Calibri" pitchFamily="34" charset="0"/>
                <a:ea typeface="Calibri" pitchFamily="34" charset="-122"/>
                <a:cs typeface="Calibri" pitchFamily="34" charset="-120"/>
              </a:rPr>
              <a:t>SPA Fan / Owner / Admin</a:t>
            </a:r>
            <a:endParaRPr lang="en-US" sz="1500" dirty="0"/>
          </a:p>
        </p:txBody>
      </p:sp>
      <p:sp>
        <p:nvSpPr>
          <p:cNvPr id="11" name="Shape 9"/>
          <p:cNvSpPr/>
          <p:nvPr/>
        </p:nvSpPr>
        <p:spPr>
          <a:xfrm>
            <a:off x="640080" y="2779776"/>
            <a:ext cx="6720840" cy="1417320"/>
          </a:xfrm>
          <a:prstGeom prst="roundRect">
            <a:avLst>
              <a:gd name="adj" fmla="val 5161"/>
            </a:avLst>
          </a:prstGeom>
          <a:solidFill>
            <a:srgbClr val="FFFFFF"/>
          </a:solidFill>
          <a:ln/>
          <a:effectLst>
            <a:outerShdw sx="100000" sy="100000" kx="0" ky="0" algn="bl" rotWithShape="0" blurRad="101600" dist="25400" dir="8100000">
              <a:srgbClr val="000000">
                <a:alpha val="10000"/>
              </a:srgbClr>
            </a:outerShdw>
          </a:effectLst>
        </p:spPr>
      </p:sp>
      <p:sp>
        <p:nvSpPr>
          <p:cNvPr id="12" name="Shape 10"/>
          <p:cNvSpPr/>
          <p:nvPr/>
        </p:nvSpPr>
        <p:spPr>
          <a:xfrm>
            <a:off x="640080" y="2779776"/>
            <a:ext cx="128016" cy="1417320"/>
          </a:xfrm>
          <a:prstGeom prst="rect">
            <a:avLst/>
          </a:prstGeom>
          <a:solidFill>
            <a:srgbClr val="3B5D3A"/>
          </a:solidFill>
          <a:ln/>
        </p:spPr>
      </p:sp>
      <p:sp>
        <p:nvSpPr>
          <p:cNvPr id="13" name="Text 11"/>
          <p:cNvSpPr/>
          <p:nvPr/>
        </p:nvSpPr>
        <p:spPr>
          <a:xfrm>
            <a:off x="1005840" y="2962656"/>
            <a:ext cx="6126480" cy="36576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Application</a:t>
            </a:r>
            <a:endParaRPr lang="en-US" sz="2000" dirty="0"/>
          </a:p>
        </p:txBody>
      </p:sp>
      <p:sp>
        <p:nvSpPr>
          <p:cNvPr id="14" name="Text 12"/>
          <p:cNvSpPr/>
          <p:nvPr/>
        </p:nvSpPr>
        <p:spPr>
          <a:xfrm>
            <a:off x="1005840" y="3401568"/>
            <a:ext cx="6126480" cy="594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Spring Boot 3 · Java 21</a:t>
            </a:r>
            <a:endParaRPr lang="en-US" sz="1500" dirty="0"/>
          </a:p>
          <a:p>
            <a:pPr indent="0" marL="0">
              <a:buNone/>
            </a:pPr>
            <a:r>
              <a:rPr lang="en-US" sz="1500" dirty="0">
                <a:solidFill>
                  <a:srgbClr val="3B3F3A"/>
                </a:solidFill>
                <a:latin typeface="Calibri" pitchFamily="34" charset="0"/>
                <a:ea typeface="Calibri" pitchFamily="34" charset="-122"/>
                <a:cs typeface="Calibri" pitchFamily="34" charset="-120"/>
              </a:rPr>
              <a:t>REST, JWT, JPA, OpenAPI</a:t>
            </a:r>
            <a:endParaRPr lang="en-US" sz="1500" dirty="0"/>
          </a:p>
        </p:txBody>
      </p:sp>
      <p:sp>
        <p:nvSpPr>
          <p:cNvPr id="15" name="Shape 13"/>
          <p:cNvSpPr/>
          <p:nvPr/>
        </p:nvSpPr>
        <p:spPr>
          <a:xfrm>
            <a:off x="640080" y="4352544"/>
            <a:ext cx="6720840" cy="1417320"/>
          </a:xfrm>
          <a:prstGeom prst="roundRect">
            <a:avLst>
              <a:gd name="adj" fmla="val 5161"/>
            </a:avLst>
          </a:prstGeom>
          <a:solidFill>
            <a:srgbClr val="FFFFFF"/>
          </a:solidFill>
          <a:ln/>
          <a:effectLst>
            <a:outerShdw sx="100000" sy="100000" kx="0" ky="0" algn="bl" rotWithShape="0" blurRad="101600" dist="25400" dir="8100000">
              <a:srgbClr val="000000">
                <a:alpha val="10000"/>
              </a:srgbClr>
            </a:outerShdw>
          </a:effectLst>
        </p:spPr>
      </p:sp>
      <p:sp>
        <p:nvSpPr>
          <p:cNvPr id="16" name="Shape 14"/>
          <p:cNvSpPr/>
          <p:nvPr/>
        </p:nvSpPr>
        <p:spPr>
          <a:xfrm>
            <a:off x="640080" y="4352544"/>
            <a:ext cx="128016" cy="1417320"/>
          </a:xfrm>
          <a:prstGeom prst="rect">
            <a:avLst/>
          </a:prstGeom>
          <a:solidFill>
            <a:srgbClr val="1B2420"/>
          </a:solidFill>
          <a:ln/>
        </p:spPr>
      </p:sp>
      <p:sp>
        <p:nvSpPr>
          <p:cNvPr id="17" name="Text 15"/>
          <p:cNvSpPr/>
          <p:nvPr/>
        </p:nvSpPr>
        <p:spPr>
          <a:xfrm>
            <a:off x="1005840" y="4535424"/>
            <a:ext cx="6126480" cy="36576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Données</a:t>
            </a:r>
            <a:endParaRPr lang="en-US" sz="2000" dirty="0"/>
          </a:p>
        </p:txBody>
      </p:sp>
      <p:sp>
        <p:nvSpPr>
          <p:cNvPr id="18" name="Text 16"/>
          <p:cNvSpPr/>
          <p:nvPr/>
        </p:nvSpPr>
        <p:spPr>
          <a:xfrm>
            <a:off x="1005840" y="4974336"/>
            <a:ext cx="6126480" cy="594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PostgreSQL 16 · Flyway</a:t>
            </a:r>
            <a:endParaRPr lang="en-US" sz="1500" dirty="0"/>
          </a:p>
          <a:p>
            <a:pPr indent="0" marL="0">
              <a:buNone/>
            </a:pPr>
            <a:r>
              <a:rPr lang="en-US" sz="1500" dirty="0">
                <a:solidFill>
                  <a:srgbClr val="3B3F3A"/>
                </a:solidFill>
                <a:latin typeface="Calibri" pitchFamily="34" charset="0"/>
                <a:ea typeface="Calibri" pitchFamily="34" charset="-122"/>
                <a:cs typeface="Calibri" pitchFamily="34" charset="-120"/>
              </a:rPr>
              <a:t>users, matchs, bookings</a:t>
            </a:r>
            <a:endParaRPr lang="en-US" sz="1500" dirty="0"/>
          </a:p>
        </p:txBody>
      </p:sp>
      <p:sp>
        <p:nvSpPr>
          <p:cNvPr id="19" name="Shape 17"/>
          <p:cNvSpPr/>
          <p:nvPr/>
        </p:nvSpPr>
        <p:spPr>
          <a:xfrm>
            <a:off x="7589520" y="1207008"/>
            <a:ext cx="3931920" cy="3063240"/>
          </a:xfrm>
          <a:prstGeom prst="roundRect">
            <a:avLst>
              <a:gd name="adj" fmla="val 2388"/>
            </a:avLst>
          </a:prstGeom>
          <a:solidFill>
            <a:srgbClr val="3B5D3A"/>
          </a:solidFill>
          <a:ln/>
          <a:effectLst>
            <a:outerShdw sx="100000" sy="100000" kx="0" ky="0" algn="bl" rotWithShape="0" blurRad="101600" dist="25400" dir="8100000">
              <a:srgbClr val="000000">
                <a:alpha val="10000"/>
              </a:srgbClr>
            </a:outerShdw>
          </a:effectLst>
        </p:spPr>
      </p:sp>
      <p:sp>
        <p:nvSpPr>
          <p:cNvPr id="20" name="Text 18"/>
          <p:cNvSpPr/>
          <p:nvPr/>
        </p:nvSpPr>
        <p:spPr>
          <a:xfrm>
            <a:off x="7818120" y="1389888"/>
            <a:ext cx="3520440" cy="256032"/>
          </a:xfrm>
          <a:prstGeom prst="rect">
            <a:avLst/>
          </a:prstGeom>
          <a:noFill/>
          <a:ln/>
        </p:spPr>
        <p:txBody>
          <a:bodyPr wrap="square" lIns="0" tIns="0" rIns="0" bIns="0" rtlCol="0" anchor="ctr"/>
          <a:lstStyle/>
          <a:p>
            <a:pPr indent="0" marL="0">
              <a:buNone/>
            </a:pPr>
            <a:r>
              <a:rPr lang="en-US" sz="1200" spc="150" kern="0" dirty="0">
                <a:solidFill>
                  <a:srgbClr val="7A9A6A"/>
                </a:solidFill>
                <a:latin typeface="Calibri" pitchFamily="34" charset="0"/>
                <a:ea typeface="Calibri" pitchFamily="34" charset="-122"/>
                <a:cs typeface="Calibri" pitchFamily="34" charset="-120"/>
              </a:rPr>
              <a:t>SERVICE IA</a:t>
            </a:r>
            <a:endParaRPr lang="en-US" sz="1200" dirty="0"/>
          </a:p>
        </p:txBody>
      </p:sp>
      <p:sp>
        <p:nvSpPr>
          <p:cNvPr id="21" name="Text 19"/>
          <p:cNvSpPr/>
          <p:nvPr/>
        </p:nvSpPr>
        <p:spPr>
          <a:xfrm>
            <a:off x="7818120" y="1783080"/>
            <a:ext cx="3520440" cy="2194560"/>
          </a:xfrm>
          <a:prstGeom prst="rect">
            <a:avLst/>
          </a:prstGeom>
          <a:noFill/>
          <a:ln/>
        </p:spPr>
        <p:txBody>
          <a:bodyPr wrap="square" lIns="0" tIns="0" rIns="0" bIns="0" rtlCol="0" anchor="ctr"/>
          <a:lstStyle/>
          <a:p>
            <a:pPr indent="0" marL="0">
              <a:buNone/>
            </a:pPr>
            <a:r>
              <a:rPr lang="en-US" sz="1800" dirty="0">
                <a:solidFill>
                  <a:srgbClr val="EFE9D9"/>
                </a:solidFill>
                <a:latin typeface="Calibri" pitchFamily="34" charset="0"/>
                <a:ea typeface="Calibri" pitchFamily="34" charset="-122"/>
                <a:cs typeface="Calibri" pitchFamily="34" charset="-120"/>
              </a:rPr>
              <a:t>FastAPI · Python</a:t>
            </a:r>
            <a:endParaRPr lang="en-US" sz="1800" dirty="0"/>
          </a:p>
          <a:p>
            <a:pPr indent="0" marL="0">
              <a:buNone/>
            </a:pPr>
            <a:r>
              <a:rPr lang="en-US" sz="1800" dirty="0">
                <a:solidFill>
                  <a:srgbClr val="EFE9D9"/>
                </a:solidFill>
                <a:latin typeface="Calibri" pitchFamily="34" charset="0"/>
                <a:ea typeface="Calibri" pitchFamily="34" charset="-122"/>
                <a:cs typeface="Calibri" pitchFamily="34" charset="-120"/>
              </a:rPr>
              <a:t>Random Forest</a:t>
            </a:r>
            <a:endParaRPr lang="en-US" sz="1800" dirty="0"/>
          </a:p>
          <a:p>
            <a:pPr indent="0" marL="0">
              <a:buNone/>
            </a:pPr>
            <a:r>
              <a:rPr lang="en-US" sz="1800" dirty="0">
                <a:solidFill>
                  <a:srgbClr val="EFE9D9"/>
                </a:solidFill>
                <a:latin typeface="Calibri" pitchFamily="34" charset="0"/>
                <a:ea typeface="Calibri" pitchFamily="34" charset="-122"/>
                <a:cs typeface="Calibri" pitchFamily="34" charset="-120"/>
              </a:rPr>
              <a:t>/predict  ·  /train</a:t>
            </a:r>
            <a:endParaRPr lang="en-US" sz="1800" dirty="0"/>
          </a:p>
          <a:p>
            <a:pPr indent="0" marL="0">
              <a:buNone/>
            </a:pPr>
            <a:r>
              <a:rPr lang="en-US" sz="1800" dirty="0">
                <a:solidFill>
                  <a:srgbClr val="EFE9D9"/>
                </a:solidFill>
                <a:latin typeface="Calibri" pitchFamily="34" charset="0"/>
                <a:ea typeface="Calibri" pitchFamily="34" charset="-122"/>
                <a:cs typeface="Calibri" pitchFamily="34" charset="-120"/>
              </a:rPr>
              <a:t>Appelé par l'API Java</a:t>
            </a:r>
            <a:endParaRPr lang="en-US" sz="1800" dirty="0"/>
          </a:p>
        </p:txBody>
      </p:sp>
      <p:sp>
        <p:nvSpPr>
          <p:cNvPr id="22" name="Shape 20"/>
          <p:cNvSpPr/>
          <p:nvPr/>
        </p:nvSpPr>
        <p:spPr>
          <a:xfrm>
            <a:off x="7589520" y="4462272"/>
            <a:ext cx="3931920" cy="1691640"/>
          </a:xfrm>
          <a:prstGeom prst="roundRect">
            <a:avLst>
              <a:gd name="adj" fmla="val 4324"/>
            </a:avLst>
          </a:prstGeom>
          <a:solidFill>
            <a:srgbClr val="FFFFFF"/>
          </a:solidFill>
          <a:ln/>
          <a:effectLst>
            <a:outerShdw sx="100000" sy="100000" kx="0" ky="0" algn="bl" rotWithShape="0" blurRad="101600" dist="25400" dir="8100000">
              <a:srgbClr val="000000">
                <a:alpha val="10000"/>
              </a:srgbClr>
            </a:outerShdw>
          </a:effectLst>
        </p:spPr>
      </p:sp>
      <p:sp>
        <p:nvSpPr>
          <p:cNvPr id="23" name="Text 21"/>
          <p:cNvSpPr/>
          <p:nvPr/>
        </p:nvSpPr>
        <p:spPr>
          <a:xfrm>
            <a:off x="7818120" y="4617720"/>
            <a:ext cx="3520440" cy="237744"/>
          </a:xfrm>
          <a:prstGeom prst="rect">
            <a:avLst/>
          </a:prstGeom>
          <a:noFill/>
          <a:ln/>
        </p:spPr>
        <p:txBody>
          <a:bodyPr wrap="square" lIns="0" tIns="0" rIns="0" bIns="0" rtlCol="0" anchor="ctr"/>
          <a:lstStyle/>
          <a:p>
            <a:pPr indent="0" marL="0">
              <a:buNone/>
            </a:pPr>
            <a:r>
              <a:rPr lang="en-US" sz="1100" spc="130" kern="0" dirty="0">
                <a:solidFill>
                  <a:srgbClr val="C26A33"/>
                </a:solidFill>
                <a:latin typeface="Calibri" pitchFamily="34" charset="0"/>
                <a:ea typeface="Calibri" pitchFamily="34" charset="-122"/>
                <a:cs typeface="Calibri" pitchFamily="34" charset="-120"/>
              </a:rPr>
              <a:t>INTÉGRATIONS</a:t>
            </a:r>
            <a:endParaRPr lang="en-US" sz="1100" dirty="0"/>
          </a:p>
        </p:txBody>
      </p:sp>
      <p:sp>
        <p:nvSpPr>
          <p:cNvPr id="24" name="Text 22"/>
          <p:cNvSpPr/>
          <p:nvPr/>
        </p:nvSpPr>
        <p:spPr>
          <a:xfrm>
            <a:off x="7818120" y="4983480"/>
            <a:ext cx="3520440" cy="868680"/>
          </a:xfrm>
          <a:prstGeom prst="rect">
            <a:avLst/>
          </a:prstGeom>
          <a:noFill/>
          <a:ln/>
        </p:spPr>
        <p:txBody>
          <a:bodyPr wrap="square" lIns="0" tIns="0" rIns="0" bIns="0" rtlCol="0" anchor="ctr"/>
          <a:lstStyle/>
          <a:p>
            <a:pPr indent="0" marL="0">
              <a:buNone/>
            </a:pPr>
            <a:r>
              <a:rPr lang="en-US" sz="1600" dirty="0">
                <a:solidFill>
                  <a:srgbClr val="3B3F3A"/>
                </a:solidFill>
                <a:latin typeface="Calibri" pitchFamily="34" charset="0"/>
                <a:ea typeface="Calibri" pitchFamily="34" charset="-122"/>
                <a:cs typeface="Calibri" pitchFamily="34" charset="-120"/>
              </a:rPr>
              <a:t>Stripe  ·  Docker  ·  Nginx</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TECHNOLOGIES UTILISÉES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10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Open source, niveau entreprise.</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3444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8" name="Image 0" descr="C:\Users\kassimi\Downloads\FanConnect-2030 (1)\FanConnect-2030\docs\rapport\tech-icons\spring-boot.png">    </p:cNvPr>
          <p:cNvPicPr>
            <a:picLocks noChangeAspect="1"/>
          </p:cNvPicPr>
          <p:nvPr/>
        </p:nvPicPr>
        <p:blipFill>
          <a:blip r:embed="rId1"/>
          <a:stretch>
            <a:fillRect/>
          </a:stretch>
        </p:blipFill>
        <p:spPr>
          <a:xfrm>
            <a:off x="1298448" y="1490472"/>
            <a:ext cx="822960" cy="822960"/>
          </a:xfrm>
          <a:prstGeom prst="rect">
            <a:avLst/>
          </a:prstGeom>
        </p:spPr>
      </p:pic>
      <p:sp>
        <p:nvSpPr>
          <p:cNvPr id="9" name="Text 6"/>
          <p:cNvSpPr/>
          <p:nvPr/>
        </p:nvSpPr>
        <p:spPr>
          <a:xfrm>
            <a:off x="731520" y="240487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Spring Boot</a:t>
            </a:r>
            <a:endParaRPr lang="en-US" sz="1400" dirty="0"/>
          </a:p>
        </p:txBody>
      </p:sp>
      <p:sp>
        <p:nvSpPr>
          <p:cNvPr id="10" name="Text 7"/>
          <p:cNvSpPr/>
          <p:nvPr/>
        </p:nvSpPr>
        <p:spPr>
          <a:xfrm>
            <a:off x="731520" y="278892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API REST</a:t>
            </a:r>
            <a:endParaRPr lang="en-US" sz="1300" dirty="0"/>
          </a:p>
        </p:txBody>
      </p:sp>
      <p:sp>
        <p:nvSpPr>
          <p:cNvPr id="11" name="Shape 8"/>
          <p:cNvSpPr/>
          <p:nvPr/>
        </p:nvSpPr>
        <p:spPr>
          <a:xfrm>
            <a:off x="2926080" y="123444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12" name="Image 1" descr="C:\Users\kassimi\Downloads\FanConnect-2030 (1)\FanConnect-2030\docs\rapport\tech-icons\react.png">    </p:cNvPr>
          <p:cNvPicPr>
            <a:picLocks noChangeAspect="1"/>
          </p:cNvPicPr>
          <p:nvPr/>
        </p:nvPicPr>
        <p:blipFill>
          <a:blip r:embed="rId2"/>
          <a:stretch>
            <a:fillRect/>
          </a:stretch>
        </p:blipFill>
        <p:spPr>
          <a:xfrm>
            <a:off x="3584448" y="1490472"/>
            <a:ext cx="822960" cy="822960"/>
          </a:xfrm>
          <a:prstGeom prst="rect">
            <a:avLst/>
          </a:prstGeom>
        </p:spPr>
      </p:pic>
      <p:sp>
        <p:nvSpPr>
          <p:cNvPr id="13" name="Text 9"/>
          <p:cNvSpPr/>
          <p:nvPr/>
        </p:nvSpPr>
        <p:spPr>
          <a:xfrm>
            <a:off x="3017520" y="240487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React 18</a:t>
            </a:r>
            <a:endParaRPr lang="en-US" sz="1400" dirty="0"/>
          </a:p>
        </p:txBody>
      </p:sp>
      <p:sp>
        <p:nvSpPr>
          <p:cNvPr id="14" name="Text 10"/>
          <p:cNvSpPr/>
          <p:nvPr/>
        </p:nvSpPr>
        <p:spPr>
          <a:xfrm>
            <a:off x="3017520" y="278892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SPA</a:t>
            </a:r>
            <a:endParaRPr lang="en-US" sz="1300" dirty="0"/>
          </a:p>
        </p:txBody>
      </p:sp>
      <p:sp>
        <p:nvSpPr>
          <p:cNvPr id="15" name="Shape 11"/>
          <p:cNvSpPr/>
          <p:nvPr/>
        </p:nvSpPr>
        <p:spPr>
          <a:xfrm>
            <a:off x="5212080" y="123444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16" name="Image 2" descr="C:\Users\kassimi\Downloads\FanConnect-2030 (1)\FanConnect-2030\docs\rapport\tech-icons\postgresql.png">    </p:cNvPr>
          <p:cNvPicPr>
            <a:picLocks noChangeAspect="1"/>
          </p:cNvPicPr>
          <p:nvPr/>
        </p:nvPicPr>
        <p:blipFill>
          <a:blip r:embed="rId3"/>
          <a:stretch>
            <a:fillRect/>
          </a:stretch>
        </p:blipFill>
        <p:spPr>
          <a:xfrm>
            <a:off x="5870448" y="1490472"/>
            <a:ext cx="822960" cy="822960"/>
          </a:xfrm>
          <a:prstGeom prst="rect">
            <a:avLst/>
          </a:prstGeom>
        </p:spPr>
      </p:pic>
      <p:sp>
        <p:nvSpPr>
          <p:cNvPr id="17" name="Text 12"/>
          <p:cNvSpPr/>
          <p:nvPr/>
        </p:nvSpPr>
        <p:spPr>
          <a:xfrm>
            <a:off x="5303520" y="240487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PostgreSQL</a:t>
            </a:r>
            <a:endParaRPr lang="en-US" sz="1400" dirty="0"/>
          </a:p>
        </p:txBody>
      </p:sp>
      <p:sp>
        <p:nvSpPr>
          <p:cNvPr id="18" name="Text 13"/>
          <p:cNvSpPr/>
          <p:nvPr/>
        </p:nvSpPr>
        <p:spPr>
          <a:xfrm>
            <a:off x="5303520" y="278892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SGBDR</a:t>
            </a:r>
            <a:endParaRPr lang="en-US" sz="1300" dirty="0"/>
          </a:p>
        </p:txBody>
      </p:sp>
      <p:sp>
        <p:nvSpPr>
          <p:cNvPr id="19" name="Shape 14"/>
          <p:cNvSpPr/>
          <p:nvPr/>
        </p:nvSpPr>
        <p:spPr>
          <a:xfrm>
            <a:off x="7498080" y="123444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20" name="Image 3" descr="C:\Users\kassimi\Downloads\FanConnect-2030 (1)\FanConnect-2030\docs\rapport\tech-icons\python.png">    </p:cNvPr>
          <p:cNvPicPr>
            <a:picLocks noChangeAspect="1"/>
          </p:cNvPicPr>
          <p:nvPr/>
        </p:nvPicPr>
        <p:blipFill>
          <a:blip r:embed="rId4"/>
          <a:stretch>
            <a:fillRect/>
          </a:stretch>
        </p:blipFill>
        <p:spPr>
          <a:xfrm>
            <a:off x="8156448" y="1490472"/>
            <a:ext cx="822960" cy="822960"/>
          </a:xfrm>
          <a:prstGeom prst="rect">
            <a:avLst/>
          </a:prstGeom>
        </p:spPr>
      </p:pic>
      <p:sp>
        <p:nvSpPr>
          <p:cNvPr id="21" name="Text 15"/>
          <p:cNvSpPr/>
          <p:nvPr/>
        </p:nvSpPr>
        <p:spPr>
          <a:xfrm>
            <a:off x="7589520" y="240487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Python</a:t>
            </a:r>
            <a:endParaRPr lang="en-US" sz="1400" dirty="0"/>
          </a:p>
        </p:txBody>
      </p:sp>
      <p:sp>
        <p:nvSpPr>
          <p:cNvPr id="22" name="Text 16"/>
          <p:cNvSpPr/>
          <p:nvPr/>
        </p:nvSpPr>
        <p:spPr>
          <a:xfrm>
            <a:off x="7589520" y="278892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Modèle ML</a:t>
            </a:r>
            <a:endParaRPr lang="en-US" sz="1300" dirty="0"/>
          </a:p>
        </p:txBody>
      </p:sp>
      <p:sp>
        <p:nvSpPr>
          <p:cNvPr id="23" name="Shape 17"/>
          <p:cNvSpPr/>
          <p:nvPr/>
        </p:nvSpPr>
        <p:spPr>
          <a:xfrm>
            <a:off x="9784080" y="123444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24" name="Image 4" descr="C:\Users\kassimi\Downloads\FanConnect-2030 (1)\FanConnect-2030\docs\rapport\tech-icons\fastapi.png">    </p:cNvPr>
          <p:cNvPicPr>
            <a:picLocks noChangeAspect="1"/>
          </p:cNvPicPr>
          <p:nvPr/>
        </p:nvPicPr>
        <p:blipFill>
          <a:blip r:embed="rId5"/>
          <a:stretch>
            <a:fillRect/>
          </a:stretch>
        </p:blipFill>
        <p:spPr>
          <a:xfrm>
            <a:off x="10442448" y="1490472"/>
            <a:ext cx="822960" cy="822960"/>
          </a:xfrm>
          <a:prstGeom prst="rect">
            <a:avLst/>
          </a:prstGeom>
        </p:spPr>
      </p:pic>
      <p:sp>
        <p:nvSpPr>
          <p:cNvPr id="25" name="Text 18"/>
          <p:cNvSpPr/>
          <p:nvPr/>
        </p:nvSpPr>
        <p:spPr>
          <a:xfrm>
            <a:off x="9875520" y="240487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FastAPI</a:t>
            </a:r>
            <a:endParaRPr lang="en-US" sz="1400" dirty="0"/>
          </a:p>
        </p:txBody>
      </p:sp>
      <p:sp>
        <p:nvSpPr>
          <p:cNvPr id="26" name="Text 19"/>
          <p:cNvSpPr/>
          <p:nvPr/>
        </p:nvSpPr>
        <p:spPr>
          <a:xfrm>
            <a:off x="9875520" y="278892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Service IA</a:t>
            </a:r>
            <a:endParaRPr lang="en-US" sz="1300" dirty="0"/>
          </a:p>
        </p:txBody>
      </p:sp>
      <p:sp>
        <p:nvSpPr>
          <p:cNvPr id="27" name="Shape 20"/>
          <p:cNvSpPr/>
          <p:nvPr/>
        </p:nvSpPr>
        <p:spPr>
          <a:xfrm>
            <a:off x="640080" y="361188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28" name="Image 5" descr="C:\Users\kassimi\Downloads\FanConnect-2030 (1)\FanConnect-2030\docs\rapport\tech-icons\stripe.png">    </p:cNvPr>
          <p:cNvPicPr>
            <a:picLocks noChangeAspect="1"/>
          </p:cNvPicPr>
          <p:nvPr/>
        </p:nvPicPr>
        <p:blipFill>
          <a:blip r:embed="rId6"/>
          <a:stretch>
            <a:fillRect/>
          </a:stretch>
        </p:blipFill>
        <p:spPr>
          <a:xfrm>
            <a:off x="1298448" y="3867912"/>
            <a:ext cx="822960" cy="822960"/>
          </a:xfrm>
          <a:prstGeom prst="rect">
            <a:avLst/>
          </a:prstGeom>
        </p:spPr>
      </p:pic>
      <p:sp>
        <p:nvSpPr>
          <p:cNvPr id="29" name="Text 21"/>
          <p:cNvSpPr/>
          <p:nvPr/>
        </p:nvSpPr>
        <p:spPr>
          <a:xfrm>
            <a:off x="731520" y="478231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Stripe</a:t>
            </a:r>
            <a:endParaRPr lang="en-US" sz="1400" dirty="0"/>
          </a:p>
        </p:txBody>
      </p:sp>
      <p:sp>
        <p:nvSpPr>
          <p:cNvPr id="30" name="Text 22"/>
          <p:cNvSpPr/>
          <p:nvPr/>
        </p:nvSpPr>
        <p:spPr>
          <a:xfrm>
            <a:off x="731520" y="516636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Paiement</a:t>
            </a:r>
            <a:endParaRPr lang="en-US" sz="1300" dirty="0"/>
          </a:p>
        </p:txBody>
      </p:sp>
      <p:sp>
        <p:nvSpPr>
          <p:cNvPr id="31" name="Shape 23"/>
          <p:cNvSpPr/>
          <p:nvPr/>
        </p:nvSpPr>
        <p:spPr>
          <a:xfrm>
            <a:off x="2926080" y="361188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32" name="Image 6" descr="C:\Users\kassimi\Downloads\FanConnect-2030 (1)\FanConnect-2030\docs\rapport\tech-icons\jwt.png">    </p:cNvPr>
          <p:cNvPicPr>
            <a:picLocks noChangeAspect="1"/>
          </p:cNvPicPr>
          <p:nvPr/>
        </p:nvPicPr>
        <p:blipFill>
          <a:blip r:embed="rId7"/>
          <a:stretch>
            <a:fillRect/>
          </a:stretch>
        </p:blipFill>
        <p:spPr>
          <a:xfrm>
            <a:off x="3584448" y="3867912"/>
            <a:ext cx="822960" cy="822960"/>
          </a:xfrm>
          <a:prstGeom prst="rect">
            <a:avLst/>
          </a:prstGeom>
        </p:spPr>
      </p:pic>
      <p:sp>
        <p:nvSpPr>
          <p:cNvPr id="33" name="Text 24"/>
          <p:cNvSpPr/>
          <p:nvPr/>
        </p:nvSpPr>
        <p:spPr>
          <a:xfrm>
            <a:off x="3017520" y="478231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JWT</a:t>
            </a:r>
            <a:endParaRPr lang="en-US" sz="1400" dirty="0"/>
          </a:p>
        </p:txBody>
      </p:sp>
      <p:sp>
        <p:nvSpPr>
          <p:cNvPr id="34" name="Text 25"/>
          <p:cNvSpPr/>
          <p:nvPr/>
        </p:nvSpPr>
        <p:spPr>
          <a:xfrm>
            <a:off x="3017520" y="516636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Auth</a:t>
            </a:r>
            <a:endParaRPr lang="en-US" sz="1300" dirty="0"/>
          </a:p>
        </p:txBody>
      </p:sp>
      <p:sp>
        <p:nvSpPr>
          <p:cNvPr id="35" name="Shape 26"/>
          <p:cNvSpPr/>
          <p:nvPr/>
        </p:nvSpPr>
        <p:spPr>
          <a:xfrm>
            <a:off x="5212080" y="361188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36" name="Image 7" descr="C:\Users\kassimi\Downloads\FanConnect-2030 (1)\FanConnect-2030\docs\rapport\tech-icons\docker.png">    </p:cNvPr>
          <p:cNvPicPr>
            <a:picLocks noChangeAspect="1"/>
          </p:cNvPicPr>
          <p:nvPr/>
        </p:nvPicPr>
        <p:blipFill>
          <a:blip r:embed="rId8"/>
          <a:stretch>
            <a:fillRect/>
          </a:stretch>
        </p:blipFill>
        <p:spPr>
          <a:xfrm>
            <a:off x="5870448" y="3867912"/>
            <a:ext cx="822960" cy="822960"/>
          </a:xfrm>
          <a:prstGeom prst="rect">
            <a:avLst/>
          </a:prstGeom>
        </p:spPr>
      </p:pic>
      <p:sp>
        <p:nvSpPr>
          <p:cNvPr id="37" name="Text 27"/>
          <p:cNvSpPr/>
          <p:nvPr/>
        </p:nvSpPr>
        <p:spPr>
          <a:xfrm>
            <a:off x="5303520" y="478231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Docker</a:t>
            </a:r>
            <a:endParaRPr lang="en-US" sz="1400" dirty="0"/>
          </a:p>
        </p:txBody>
      </p:sp>
      <p:sp>
        <p:nvSpPr>
          <p:cNvPr id="38" name="Text 28"/>
          <p:cNvSpPr/>
          <p:nvPr/>
        </p:nvSpPr>
        <p:spPr>
          <a:xfrm>
            <a:off x="5303520" y="516636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Déploiement</a:t>
            </a:r>
            <a:endParaRPr lang="en-US" sz="1300" dirty="0"/>
          </a:p>
        </p:txBody>
      </p:sp>
      <p:sp>
        <p:nvSpPr>
          <p:cNvPr id="39" name="Shape 29"/>
          <p:cNvSpPr/>
          <p:nvPr/>
        </p:nvSpPr>
        <p:spPr>
          <a:xfrm>
            <a:off x="7498080" y="361188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40" name="Image 8" descr="C:\Users\kassimi\Downloads\FanConnect-2030 (1)\FanConnect-2030\docs\rapport\tech-icons\swagger.png">    </p:cNvPr>
          <p:cNvPicPr>
            <a:picLocks noChangeAspect="1"/>
          </p:cNvPicPr>
          <p:nvPr/>
        </p:nvPicPr>
        <p:blipFill>
          <a:blip r:embed="rId9"/>
          <a:stretch>
            <a:fillRect/>
          </a:stretch>
        </p:blipFill>
        <p:spPr>
          <a:xfrm>
            <a:off x="8156448" y="3867912"/>
            <a:ext cx="822960" cy="822960"/>
          </a:xfrm>
          <a:prstGeom prst="rect">
            <a:avLst/>
          </a:prstGeom>
        </p:spPr>
      </p:pic>
      <p:sp>
        <p:nvSpPr>
          <p:cNvPr id="41" name="Text 30"/>
          <p:cNvSpPr/>
          <p:nvPr/>
        </p:nvSpPr>
        <p:spPr>
          <a:xfrm>
            <a:off x="7589520" y="478231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OpenAPI</a:t>
            </a:r>
            <a:endParaRPr lang="en-US" sz="1400" dirty="0"/>
          </a:p>
        </p:txBody>
      </p:sp>
      <p:sp>
        <p:nvSpPr>
          <p:cNvPr id="42" name="Text 31"/>
          <p:cNvSpPr/>
          <p:nvPr/>
        </p:nvSpPr>
        <p:spPr>
          <a:xfrm>
            <a:off x="7589520" y="516636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Documentation</a:t>
            </a:r>
            <a:endParaRPr lang="en-US" sz="1300" dirty="0"/>
          </a:p>
        </p:txBody>
      </p:sp>
      <p:sp>
        <p:nvSpPr>
          <p:cNvPr id="43" name="Shape 32"/>
          <p:cNvSpPr/>
          <p:nvPr/>
        </p:nvSpPr>
        <p:spPr>
          <a:xfrm>
            <a:off x="9784080" y="3611880"/>
            <a:ext cx="2148840" cy="219456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pic>
        <p:nvPicPr>
          <p:cNvPr id="44" name="Image 9" descr="C:\Users\kassimi\Downloads\FanConnect-2030 (1)\FanConnect-2030\docs\rapport\tech-icons\vite.png">    </p:cNvPr>
          <p:cNvPicPr>
            <a:picLocks noChangeAspect="1"/>
          </p:cNvPicPr>
          <p:nvPr/>
        </p:nvPicPr>
        <p:blipFill>
          <a:blip r:embed="rId10"/>
          <a:stretch>
            <a:fillRect/>
          </a:stretch>
        </p:blipFill>
        <p:spPr>
          <a:xfrm>
            <a:off x="10442448" y="3867912"/>
            <a:ext cx="822960" cy="822960"/>
          </a:xfrm>
          <a:prstGeom prst="rect">
            <a:avLst/>
          </a:prstGeom>
        </p:spPr>
      </p:pic>
      <p:sp>
        <p:nvSpPr>
          <p:cNvPr id="45" name="Text 33"/>
          <p:cNvSpPr/>
          <p:nvPr/>
        </p:nvSpPr>
        <p:spPr>
          <a:xfrm>
            <a:off x="9875520" y="4782312"/>
            <a:ext cx="1965960" cy="365760"/>
          </a:xfrm>
          <a:prstGeom prst="rect">
            <a:avLst/>
          </a:prstGeom>
          <a:noFill/>
          <a:ln/>
        </p:spPr>
        <p:txBody>
          <a:bodyPr wrap="square" lIns="0" tIns="0" rIns="0" bIns="0" rtlCol="0" anchor="ctr"/>
          <a:lstStyle/>
          <a:p>
            <a:pPr algn="ctr" indent="0" marL="0">
              <a:buNone/>
            </a:pPr>
            <a:r>
              <a:rPr lang="en-US" sz="1400" dirty="0">
                <a:solidFill>
                  <a:srgbClr val="1B2420"/>
                </a:solidFill>
                <a:latin typeface="Georgia" pitchFamily="34" charset="0"/>
                <a:ea typeface="Georgia" pitchFamily="34" charset="-122"/>
                <a:cs typeface="Georgia" pitchFamily="34" charset="-120"/>
              </a:rPr>
              <a:t>Vite</a:t>
            </a:r>
            <a:endParaRPr lang="en-US" sz="1400" dirty="0"/>
          </a:p>
        </p:txBody>
      </p:sp>
      <p:sp>
        <p:nvSpPr>
          <p:cNvPr id="46" name="Text 34"/>
          <p:cNvSpPr/>
          <p:nvPr/>
        </p:nvSpPr>
        <p:spPr>
          <a:xfrm>
            <a:off x="9875520" y="5166360"/>
            <a:ext cx="1965960" cy="365760"/>
          </a:xfrm>
          <a:prstGeom prst="rect">
            <a:avLst/>
          </a:prstGeom>
          <a:noFill/>
          <a:ln/>
        </p:spPr>
        <p:txBody>
          <a:bodyPr wrap="square" lIns="0" tIns="0" rIns="0" bIns="0" rtlCol="0" anchor="ctr"/>
          <a:lstStyle/>
          <a:p>
            <a:pPr algn="ctr" indent="0" marL="0">
              <a:buNone/>
            </a:pPr>
            <a:r>
              <a:rPr lang="en-US" sz="1300" dirty="0">
                <a:solidFill>
                  <a:srgbClr val="3B3F3A"/>
                </a:solidFill>
                <a:latin typeface="Calibri" pitchFamily="34" charset="0"/>
                <a:ea typeface="Calibri" pitchFamily="34" charset="-122"/>
                <a:cs typeface="Calibri" pitchFamily="34" charset="-120"/>
              </a:rPr>
              <a:t>Build UI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RÉALISATION</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11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Découvrir, réserver, piloter.</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pic>
        <p:nvPicPr>
          <p:cNvPr id="7" name="Image 0" descr="C:\Users\kassimi\Downloads\FanConnect-2030 (1)\FanConnect-2030\docs\rapport\ppt-assets\01-accueil-hero_16x9.jpg">    </p:cNvPr>
          <p:cNvPicPr>
            <a:picLocks noChangeAspect="1"/>
          </p:cNvPicPr>
          <p:nvPr/>
        </p:nvPicPr>
        <p:blipFill>
          <a:blip r:embed="rId1"/>
          <a:srcRect l="0" r="0" t="0" b="0"/>
          <a:stretch/>
        </p:blipFill>
        <p:spPr>
          <a:xfrm>
            <a:off x="640080" y="1170432"/>
            <a:ext cx="5440680" cy="1874520"/>
          </a:xfrm>
          <a:prstGeom prst="rect">
            <a:avLst/>
          </a:prstGeom>
        </p:spPr>
      </p:pic>
      <p:sp>
        <p:nvSpPr>
          <p:cNvPr id="8" name="Text 5"/>
          <p:cNvSpPr/>
          <p:nvPr/>
        </p:nvSpPr>
        <p:spPr>
          <a:xfrm>
            <a:off x="640080" y="3099816"/>
            <a:ext cx="5440680" cy="256032"/>
          </a:xfrm>
          <a:prstGeom prst="rect">
            <a:avLst/>
          </a:prstGeom>
          <a:noFill/>
          <a:ln/>
        </p:spPr>
        <p:txBody>
          <a:bodyPr wrap="square" lIns="0" tIns="0" rIns="0" bIns="0" rtlCol="0" anchor="ctr"/>
          <a:lstStyle/>
          <a:p>
            <a:pPr indent="0" marL="0">
              <a:buNone/>
            </a:pPr>
            <a:r>
              <a:rPr lang="en-US" sz="1300" dirty="0">
                <a:solidFill>
                  <a:srgbClr val="7A7F76"/>
                </a:solidFill>
                <a:latin typeface="Calibri" pitchFamily="34" charset="0"/>
                <a:ea typeface="Calibri" pitchFamily="34" charset="-122"/>
                <a:cs typeface="Calibri" pitchFamily="34" charset="-120"/>
              </a:rPr>
              <a:t>Accueil</a:t>
            </a:r>
            <a:endParaRPr lang="en-US" sz="1300" dirty="0"/>
          </a:p>
        </p:txBody>
      </p:sp>
      <p:pic>
        <p:nvPicPr>
          <p:cNvPr id="9" name="Image 1" descr="C:\Users\kassimi\Downloads\FanConnect-2030 (1)\FanConnect-2030\docs\rapport\ppt-assets\08-booking-wizard_16x9.jpg">    </p:cNvPr>
          <p:cNvPicPr>
            <a:picLocks noChangeAspect="1"/>
          </p:cNvPicPr>
          <p:nvPr/>
        </p:nvPicPr>
        <p:blipFill>
          <a:blip r:embed="rId2"/>
          <a:srcRect l="0" r="0" t="0" b="0"/>
          <a:stretch/>
        </p:blipFill>
        <p:spPr>
          <a:xfrm>
            <a:off x="6309360" y="1170432"/>
            <a:ext cx="5440680" cy="1874520"/>
          </a:xfrm>
          <a:prstGeom prst="rect">
            <a:avLst/>
          </a:prstGeom>
        </p:spPr>
      </p:pic>
      <p:sp>
        <p:nvSpPr>
          <p:cNvPr id="10" name="Text 6"/>
          <p:cNvSpPr/>
          <p:nvPr/>
        </p:nvSpPr>
        <p:spPr>
          <a:xfrm>
            <a:off x="6309360" y="3099816"/>
            <a:ext cx="5440680" cy="256032"/>
          </a:xfrm>
          <a:prstGeom prst="rect">
            <a:avLst/>
          </a:prstGeom>
          <a:noFill/>
          <a:ln/>
        </p:spPr>
        <p:txBody>
          <a:bodyPr wrap="square" lIns="0" tIns="0" rIns="0" bIns="0" rtlCol="0" anchor="ctr"/>
          <a:lstStyle/>
          <a:p>
            <a:pPr indent="0" marL="0">
              <a:buNone/>
            </a:pPr>
            <a:r>
              <a:rPr lang="en-US" sz="1300" dirty="0">
                <a:solidFill>
                  <a:srgbClr val="7A7F76"/>
                </a:solidFill>
                <a:latin typeface="Calibri" pitchFamily="34" charset="0"/>
                <a:ea typeface="Calibri" pitchFamily="34" charset="-122"/>
                <a:cs typeface="Calibri" pitchFamily="34" charset="-120"/>
              </a:rPr>
              <a:t>Wizard de réservation</a:t>
            </a:r>
            <a:endParaRPr lang="en-US" sz="1300" dirty="0"/>
          </a:p>
        </p:txBody>
      </p:sp>
      <p:pic>
        <p:nvPicPr>
          <p:cNvPr id="11" name="Image 2" descr="C:\Users\kassimi\Downloads\FanConnect-2030 (1)\FanConnect-2030\docs\rapport\ppt-assets\09-owner-dashboard_16x9.jpg">    </p:cNvPr>
          <p:cNvPicPr>
            <a:picLocks noChangeAspect="1"/>
          </p:cNvPicPr>
          <p:nvPr/>
        </p:nvPicPr>
        <p:blipFill>
          <a:blip r:embed="rId3"/>
          <a:srcRect l="0" r="0" t="0" b="0"/>
          <a:stretch/>
        </p:blipFill>
        <p:spPr>
          <a:xfrm>
            <a:off x="640080" y="3639312"/>
            <a:ext cx="5440680" cy="1874520"/>
          </a:xfrm>
          <a:prstGeom prst="rect">
            <a:avLst/>
          </a:prstGeom>
        </p:spPr>
      </p:pic>
      <p:sp>
        <p:nvSpPr>
          <p:cNvPr id="12" name="Text 7"/>
          <p:cNvSpPr/>
          <p:nvPr/>
        </p:nvSpPr>
        <p:spPr>
          <a:xfrm>
            <a:off x="640080" y="5568696"/>
            <a:ext cx="5440680" cy="256032"/>
          </a:xfrm>
          <a:prstGeom prst="rect">
            <a:avLst/>
          </a:prstGeom>
          <a:noFill/>
          <a:ln/>
        </p:spPr>
        <p:txBody>
          <a:bodyPr wrap="square" lIns="0" tIns="0" rIns="0" bIns="0" rtlCol="0" anchor="ctr"/>
          <a:lstStyle/>
          <a:p>
            <a:pPr indent="0" marL="0">
              <a:buNone/>
            </a:pPr>
            <a:r>
              <a:rPr lang="en-US" sz="1300" dirty="0">
                <a:solidFill>
                  <a:srgbClr val="7A7F76"/>
                </a:solidFill>
                <a:latin typeface="Calibri" pitchFamily="34" charset="0"/>
                <a:ea typeface="Calibri" pitchFamily="34" charset="-122"/>
                <a:cs typeface="Calibri" pitchFamily="34" charset="-120"/>
              </a:rPr>
              <a:t>Dashboard Owner</a:t>
            </a:r>
            <a:endParaRPr lang="en-US" sz="1300" dirty="0"/>
          </a:p>
        </p:txBody>
      </p:sp>
      <p:pic>
        <p:nvPicPr>
          <p:cNvPr id="13" name="Image 3" descr="C:\Users\kassimi\Downloads\FanConnect-2030 (1)\FanConnect-2030\docs\rapport\ppt-assets\05-admin-dashboard_16x9.jpg">    </p:cNvPr>
          <p:cNvPicPr>
            <a:picLocks noChangeAspect="1"/>
          </p:cNvPicPr>
          <p:nvPr/>
        </p:nvPicPr>
        <p:blipFill>
          <a:blip r:embed="rId4"/>
          <a:srcRect l="0" r="0" t="0" b="0"/>
          <a:stretch/>
        </p:blipFill>
        <p:spPr>
          <a:xfrm>
            <a:off x="6309360" y="3639312"/>
            <a:ext cx="5440680" cy="1874520"/>
          </a:xfrm>
          <a:prstGeom prst="rect">
            <a:avLst/>
          </a:prstGeom>
        </p:spPr>
      </p:pic>
      <p:sp>
        <p:nvSpPr>
          <p:cNvPr id="14" name="Text 8"/>
          <p:cNvSpPr/>
          <p:nvPr/>
        </p:nvSpPr>
        <p:spPr>
          <a:xfrm>
            <a:off x="6309360" y="5568696"/>
            <a:ext cx="5440680" cy="256032"/>
          </a:xfrm>
          <a:prstGeom prst="rect">
            <a:avLst/>
          </a:prstGeom>
          <a:noFill/>
          <a:ln/>
        </p:spPr>
        <p:txBody>
          <a:bodyPr wrap="square" lIns="0" tIns="0" rIns="0" bIns="0" rtlCol="0" anchor="ctr"/>
          <a:lstStyle/>
          <a:p>
            <a:pPr indent="0" marL="0">
              <a:buNone/>
            </a:pPr>
            <a:r>
              <a:rPr lang="en-US" sz="1300" dirty="0">
                <a:solidFill>
                  <a:srgbClr val="7A7F76"/>
                </a:solidFill>
                <a:latin typeface="Calibri" pitchFamily="34" charset="0"/>
                <a:ea typeface="Calibri" pitchFamily="34" charset="-122"/>
                <a:cs typeface="Calibri" pitchFamily="34" charset="-120"/>
              </a:rPr>
              <a:t>Dashboard Admin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INTELLIGENCE ARTIFICIELLE</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12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Prédire l'affluence, recommander le lieu.</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5440680" cy="214884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sp>
        <p:nvSpPr>
          <p:cNvPr id="8" name="Text 6"/>
          <p:cNvSpPr/>
          <p:nvPr/>
        </p:nvSpPr>
        <p:spPr>
          <a:xfrm>
            <a:off x="914400" y="1408176"/>
            <a:ext cx="4892040" cy="36576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Modèle</a:t>
            </a:r>
            <a:endParaRPr lang="en-US" sz="1800" dirty="0"/>
          </a:p>
        </p:txBody>
      </p:sp>
      <p:sp>
        <p:nvSpPr>
          <p:cNvPr id="9" name="Text 7"/>
          <p:cNvSpPr/>
          <p:nvPr/>
        </p:nvSpPr>
        <p:spPr>
          <a:xfrm>
            <a:off x="914400" y="1892808"/>
            <a:ext cx="4892040" cy="118872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Random Forest (scikit-learn). Features : occupation courante, historique, horizon avant kickoff, fraîcheur du report owner.</a:t>
            </a:r>
            <a:endParaRPr lang="en-US" sz="1500" dirty="0"/>
          </a:p>
        </p:txBody>
      </p:sp>
      <p:sp>
        <p:nvSpPr>
          <p:cNvPr id="10" name="Shape 8"/>
          <p:cNvSpPr/>
          <p:nvPr/>
        </p:nvSpPr>
        <p:spPr>
          <a:xfrm>
            <a:off x="6309360" y="1207008"/>
            <a:ext cx="5440680" cy="214884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sp>
        <p:nvSpPr>
          <p:cNvPr id="11" name="Text 9"/>
          <p:cNvSpPr/>
          <p:nvPr/>
        </p:nvSpPr>
        <p:spPr>
          <a:xfrm>
            <a:off x="6583680" y="1408176"/>
            <a:ext cx="4892040" cy="36576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Sorties</a:t>
            </a:r>
            <a:endParaRPr lang="en-US" sz="1800" dirty="0"/>
          </a:p>
        </p:txBody>
      </p:sp>
      <p:sp>
        <p:nvSpPr>
          <p:cNvPr id="12" name="Text 10"/>
          <p:cNvSpPr/>
          <p:nvPr/>
        </p:nvSpPr>
        <p:spPr>
          <a:xfrm>
            <a:off x="6583680" y="1892808"/>
            <a:ext cx="4892040" cy="118872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Prédictions à 1 h, 2 h et coup d'envoi. Risque LOW / MEDIUM / HIGH + recommandation textuelle.</a:t>
            </a:r>
            <a:endParaRPr lang="en-US" sz="1500" dirty="0"/>
          </a:p>
        </p:txBody>
      </p:sp>
      <p:sp>
        <p:nvSpPr>
          <p:cNvPr id="13" name="Shape 11"/>
          <p:cNvSpPr/>
          <p:nvPr/>
        </p:nvSpPr>
        <p:spPr>
          <a:xfrm>
            <a:off x="640080" y="3538728"/>
            <a:ext cx="5440680" cy="214884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sp>
        <p:nvSpPr>
          <p:cNvPr id="14" name="Text 12"/>
          <p:cNvSpPr/>
          <p:nvPr/>
        </p:nvSpPr>
        <p:spPr>
          <a:xfrm>
            <a:off x="914400" y="3739896"/>
            <a:ext cx="4892040" cy="36576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Recommandation</a:t>
            </a:r>
            <a:endParaRPr lang="en-US" sz="1800" dirty="0"/>
          </a:p>
        </p:txBody>
      </p:sp>
      <p:sp>
        <p:nvSpPr>
          <p:cNvPr id="15" name="Text 13"/>
          <p:cNvSpPr/>
          <p:nvPr/>
        </p:nvSpPr>
        <p:spPr>
          <a:xfrm>
            <a:off x="914400" y="4224528"/>
            <a:ext cx="4892040" cy="118872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Rayon 5 → 10 → 20 km. Score distance × occupation. Codes métier (CLOSEST_LOW_CROWD).</a:t>
            </a:r>
            <a:endParaRPr lang="en-US" sz="1500" dirty="0"/>
          </a:p>
        </p:txBody>
      </p:sp>
      <p:sp>
        <p:nvSpPr>
          <p:cNvPr id="16" name="Shape 14"/>
          <p:cNvSpPr/>
          <p:nvPr/>
        </p:nvSpPr>
        <p:spPr>
          <a:xfrm>
            <a:off x="6309360" y="3538728"/>
            <a:ext cx="5440680" cy="2148840"/>
          </a:xfrm>
          <a:prstGeom prst="roundRect">
            <a:avLst>
              <a:gd name="adj" fmla="val 3404"/>
            </a:avLst>
          </a:prstGeom>
          <a:solidFill>
            <a:srgbClr val="FFFFFF"/>
          </a:solidFill>
          <a:ln/>
          <a:effectLst>
            <a:outerShdw sx="100000" sy="100000" kx="0" ky="0" algn="bl" rotWithShape="0" blurRad="101600" dist="25400" dir="8100000">
              <a:srgbClr val="000000">
                <a:alpha val="10000"/>
              </a:srgbClr>
            </a:outerShdw>
          </a:effectLst>
        </p:spPr>
      </p:sp>
      <p:sp>
        <p:nvSpPr>
          <p:cNvPr id="17" name="Text 15"/>
          <p:cNvSpPr/>
          <p:nvPr/>
        </p:nvSpPr>
        <p:spPr>
          <a:xfrm>
            <a:off x="6583680" y="3739896"/>
            <a:ext cx="4892040" cy="365760"/>
          </a:xfrm>
          <a:prstGeom prst="rect">
            <a:avLst/>
          </a:prstGeom>
          <a:noFill/>
          <a:ln/>
        </p:spPr>
        <p:txBody>
          <a:bodyPr wrap="square" lIns="0" tIns="0" rIns="0" bIns="0" rtlCol="0" anchor="ctr"/>
          <a:lstStyle/>
          <a:p>
            <a:pPr indent="0" marL="0">
              <a:buNone/>
            </a:pPr>
            <a:r>
              <a:rPr lang="en-US" sz="1800" dirty="0">
                <a:solidFill>
                  <a:srgbClr val="3B5D3A"/>
                </a:solidFill>
                <a:latin typeface="Georgia" pitchFamily="34" charset="0"/>
                <a:ea typeface="Georgia" pitchFamily="34" charset="-122"/>
                <a:cs typeface="Georgia" pitchFamily="34" charset="-120"/>
              </a:rPr>
              <a:t>FanBot</a:t>
            </a:r>
            <a:endParaRPr lang="en-US" sz="1800" dirty="0"/>
          </a:p>
        </p:txBody>
      </p:sp>
      <p:sp>
        <p:nvSpPr>
          <p:cNvPr id="18" name="Text 16"/>
          <p:cNvSpPr/>
          <p:nvPr/>
        </p:nvSpPr>
        <p:spPr>
          <a:xfrm>
            <a:off x="6583680" y="4224528"/>
            <a:ext cx="4892040" cy="118872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Assistant d'intentions (match, café, réservation). Fallback déterministe si l'API LLM est indisponible.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4A2B"/>
        </a:solidFill>
      </p:bgPr>
    </p:bg>
    <p:spTree>
      <p:nvGrpSpPr>
        <p:cNvPr id="1" name=""/>
        <p:cNvGrpSpPr/>
        <p:nvPr/>
      </p:nvGrpSpPr>
      <p:grpSpPr>
        <a:xfrm>
          <a:off x="0" y="0"/>
          <a:ext cx="0" cy="0"/>
          <a:chOff x="0" y="0"/>
          <a:chExt cx="0" cy="0"/>
        </a:xfrm>
      </p:grpSpPr>
      <p:sp>
        <p:nvSpPr>
          <p:cNvPr id="2" name="Text 0"/>
          <p:cNvSpPr/>
          <p:nvPr/>
        </p:nvSpPr>
        <p:spPr>
          <a:xfrm>
            <a:off x="640080" y="1325880"/>
            <a:ext cx="10972800" cy="292608"/>
          </a:xfrm>
          <a:prstGeom prst="rect">
            <a:avLst/>
          </a:prstGeom>
          <a:noFill/>
          <a:ln/>
        </p:spPr>
        <p:txBody>
          <a:bodyPr wrap="square" lIns="0" tIns="0" rIns="0" bIns="0" rtlCol="0" anchor="ctr"/>
          <a:lstStyle/>
          <a:p>
            <a:pPr indent="0" marL="0">
              <a:buNone/>
            </a:pPr>
            <a:r>
              <a:rPr lang="en-US" sz="1400" spc="300" kern="0" dirty="0">
                <a:solidFill>
                  <a:srgbClr val="7A9A6A"/>
                </a:solidFill>
                <a:latin typeface="Calibri" pitchFamily="34" charset="0"/>
                <a:ea typeface="Calibri" pitchFamily="34" charset="-122"/>
                <a:cs typeface="Calibri" pitchFamily="34" charset="-120"/>
              </a:rPr>
              <a:t>DÉMONSTRATION</a:t>
            </a:r>
            <a:endParaRPr lang="en-US" sz="1400" dirty="0"/>
          </a:p>
        </p:txBody>
      </p:sp>
      <p:sp>
        <p:nvSpPr>
          <p:cNvPr id="3" name="Text 1"/>
          <p:cNvSpPr/>
          <p:nvPr/>
        </p:nvSpPr>
        <p:spPr>
          <a:xfrm>
            <a:off x="640080" y="1737360"/>
            <a:ext cx="10972800" cy="640080"/>
          </a:xfrm>
          <a:prstGeom prst="rect">
            <a:avLst/>
          </a:prstGeom>
          <a:noFill/>
          <a:ln/>
        </p:spPr>
        <p:txBody>
          <a:bodyPr wrap="square" lIns="0" tIns="0" rIns="0" bIns="0" rtlCol="0" anchor="ctr"/>
          <a:lstStyle/>
          <a:p>
            <a:pPr indent="0" marL="0">
              <a:buNone/>
            </a:pPr>
            <a:r>
              <a:rPr lang="en-US" sz="3400" dirty="0">
                <a:solidFill>
                  <a:srgbClr val="EFE9D9"/>
                </a:solidFill>
                <a:latin typeface="Georgia" pitchFamily="34" charset="0"/>
                <a:ea typeface="Georgia" pitchFamily="34" charset="-122"/>
                <a:cs typeface="Georgia" pitchFamily="34" charset="-120"/>
              </a:rPr>
              <a:t>Parcours à montrer</a:t>
            </a:r>
            <a:endParaRPr lang="en-US" sz="3400" dirty="0"/>
          </a:p>
        </p:txBody>
      </p:sp>
      <p:sp>
        <p:nvSpPr>
          <p:cNvPr id="4" name="Shape 2"/>
          <p:cNvSpPr/>
          <p:nvPr/>
        </p:nvSpPr>
        <p:spPr>
          <a:xfrm>
            <a:off x="640080" y="2697480"/>
            <a:ext cx="5349240" cy="1234440"/>
          </a:xfrm>
          <a:prstGeom prst="roundRect">
            <a:avLst>
              <a:gd name="adj" fmla="val 5926"/>
            </a:avLst>
          </a:prstGeom>
          <a:solidFill>
            <a:srgbClr val="24332C"/>
          </a:solidFill>
          <a:ln/>
        </p:spPr>
      </p:sp>
      <p:sp>
        <p:nvSpPr>
          <p:cNvPr id="5" name="Text 3"/>
          <p:cNvSpPr/>
          <p:nvPr/>
        </p:nvSpPr>
        <p:spPr>
          <a:xfrm>
            <a:off x="868680" y="3017520"/>
            <a:ext cx="502920" cy="594360"/>
          </a:xfrm>
          <a:prstGeom prst="rect">
            <a:avLst/>
          </a:prstGeom>
          <a:noFill/>
          <a:ln/>
        </p:spPr>
        <p:txBody>
          <a:bodyPr wrap="square" lIns="0" tIns="0" rIns="0" bIns="0" rtlCol="0" anchor="ctr"/>
          <a:lstStyle/>
          <a:p>
            <a:pPr indent="0" marL="0">
              <a:buNone/>
            </a:pPr>
            <a:r>
              <a:rPr lang="en-US" sz="2400" dirty="0">
                <a:solidFill>
                  <a:srgbClr val="D48A5B"/>
                </a:solidFill>
                <a:latin typeface="Georgia" pitchFamily="34" charset="0"/>
                <a:ea typeface="Georgia" pitchFamily="34" charset="-122"/>
                <a:cs typeface="Georgia" pitchFamily="34" charset="-120"/>
              </a:rPr>
              <a:t>1</a:t>
            </a:r>
            <a:endParaRPr lang="en-US" sz="2400" dirty="0"/>
          </a:p>
        </p:txBody>
      </p:sp>
      <p:sp>
        <p:nvSpPr>
          <p:cNvPr id="6" name="Text 4"/>
          <p:cNvSpPr/>
          <p:nvPr/>
        </p:nvSpPr>
        <p:spPr>
          <a:xfrm>
            <a:off x="1508760" y="3017520"/>
            <a:ext cx="4206240" cy="594360"/>
          </a:xfrm>
          <a:prstGeom prst="rect">
            <a:avLst/>
          </a:prstGeom>
          <a:noFill/>
          <a:ln/>
        </p:spPr>
        <p:txBody>
          <a:bodyPr wrap="square" lIns="0" tIns="0" rIns="0" bIns="0" rtlCol="0" anchor="ctr"/>
          <a:lstStyle/>
          <a:p>
            <a:pPr indent="0" marL="0">
              <a:buNone/>
            </a:pPr>
            <a:r>
              <a:rPr lang="en-US" sz="2000" dirty="0">
                <a:solidFill>
                  <a:srgbClr val="EFE9D9"/>
                </a:solidFill>
                <a:latin typeface="Calibri" pitchFamily="34" charset="0"/>
                <a:ea typeface="Calibri" pitchFamily="34" charset="-122"/>
                <a:cs typeface="Calibri" pitchFamily="34" charset="-120"/>
              </a:rPr>
              <a:t>Accueil → Match Center</a:t>
            </a:r>
            <a:endParaRPr lang="en-US" sz="2000" dirty="0"/>
          </a:p>
        </p:txBody>
      </p:sp>
      <p:sp>
        <p:nvSpPr>
          <p:cNvPr id="7" name="Shape 5"/>
          <p:cNvSpPr/>
          <p:nvPr/>
        </p:nvSpPr>
        <p:spPr>
          <a:xfrm>
            <a:off x="6263640" y="2697480"/>
            <a:ext cx="5349240" cy="1234440"/>
          </a:xfrm>
          <a:prstGeom prst="roundRect">
            <a:avLst>
              <a:gd name="adj" fmla="val 5926"/>
            </a:avLst>
          </a:prstGeom>
          <a:solidFill>
            <a:srgbClr val="24332C"/>
          </a:solidFill>
          <a:ln/>
        </p:spPr>
      </p:sp>
      <p:sp>
        <p:nvSpPr>
          <p:cNvPr id="8" name="Text 6"/>
          <p:cNvSpPr/>
          <p:nvPr/>
        </p:nvSpPr>
        <p:spPr>
          <a:xfrm>
            <a:off x="6492240" y="3017520"/>
            <a:ext cx="502920" cy="594360"/>
          </a:xfrm>
          <a:prstGeom prst="rect">
            <a:avLst/>
          </a:prstGeom>
          <a:noFill/>
          <a:ln/>
        </p:spPr>
        <p:txBody>
          <a:bodyPr wrap="square" lIns="0" tIns="0" rIns="0" bIns="0" rtlCol="0" anchor="ctr"/>
          <a:lstStyle/>
          <a:p>
            <a:pPr indent="0" marL="0">
              <a:buNone/>
            </a:pPr>
            <a:r>
              <a:rPr lang="en-US" sz="2400" dirty="0">
                <a:solidFill>
                  <a:srgbClr val="D48A5B"/>
                </a:solidFill>
                <a:latin typeface="Georgia" pitchFamily="34" charset="0"/>
                <a:ea typeface="Georgia" pitchFamily="34" charset="-122"/>
                <a:cs typeface="Georgia" pitchFamily="34" charset="-120"/>
              </a:rPr>
              <a:t>2</a:t>
            </a:r>
            <a:endParaRPr lang="en-US" sz="2400" dirty="0"/>
          </a:p>
        </p:txBody>
      </p:sp>
      <p:sp>
        <p:nvSpPr>
          <p:cNvPr id="9" name="Text 7"/>
          <p:cNvSpPr/>
          <p:nvPr/>
        </p:nvSpPr>
        <p:spPr>
          <a:xfrm>
            <a:off x="7132320" y="3017520"/>
            <a:ext cx="4206240" cy="594360"/>
          </a:xfrm>
          <a:prstGeom prst="rect">
            <a:avLst/>
          </a:prstGeom>
          <a:noFill/>
          <a:ln/>
        </p:spPr>
        <p:txBody>
          <a:bodyPr wrap="square" lIns="0" tIns="0" rIns="0" bIns="0" rtlCol="0" anchor="ctr"/>
          <a:lstStyle/>
          <a:p>
            <a:pPr indent="0" marL="0">
              <a:buNone/>
            </a:pPr>
            <a:r>
              <a:rPr lang="en-US" sz="2000" dirty="0">
                <a:solidFill>
                  <a:srgbClr val="EFE9D9"/>
                </a:solidFill>
                <a:latin typeface="Calibri" pitchFamily="34" charset="0"/>
                <a:ea typeface="Calibri" pitchFamily="34" charset="-122"/>
                <a:cs typeface="Calibri" pitchFamily="34" charset="-120"/>
              </a:rPr>
              <a:t>Lieux sur la carte + occupation</a:t>
            </a:r>
            <a:endParaRPr lang="en-US" sz="2000" dirty="0"/>
          </a:p>
        </p:txBody>
      </p:sp>
      <p:sp>
        <p:nvSpPr>
          <p:cNvPr id="10" name="Shape 8"/>
          <p:cNvSpPr/>
          <p:nvPr/>
        </p:nvSpPr>
        <p:spPr>
          <a:xfrm>
            <a:off x="640080" y="4114800"/>
            <a:ext cx="5349240" cy="1234440"/>
          </a:xfrm>
          <a:prstGeom prst="roundRect">
            <a:avLst>
              <a:gd name="adj" fmla="val 5926"/>
            </a:avLst>
          </a:prstGeom>
          <a:solidFill>
            <a:srgbClr val="24332C"/>
          </a:solidFill>
          <a:ln/>
        </p:spPr>
      </p:sp>
      <p:sp>
        <p:nvSpPr>
          <p:cNvPr id="11" name="Text 9"/>
          <p:cNvSpPr/>
          <p:nvPr/>
        </p:nvSpPr>
        <p:spPr>
          <a:xfrm>
            <a:off x="868680" y="4434840"/>
            <a:ext cx="502920" cy="594360"/>
          </a:xfrm>
          <a:prstGeom prst="rect">
            <a:avLst/>
          </a:prstGeom>
          <a:noFill/>
          <a:ln/>
        </p:spPr>
        <p:txBody>
          <a:bodyPr wrap="square" lIns="0" tIns="0" rIns="0" bIns="0" rtlCol="0" anchor="ctr"/>
          <a:lstStyle/>
          <a:p>
            <a:pPr indent="0" marL="0">
              <a:buNone/>
            </a:pPr>
            <a:r>
              <a:rPr lang="en-US" sz="2400" dirty="0">
                <a:solidFill>
                  <a:srgbClr val="D48A5B"/>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08760" y="4434840"/>
            <a:ext cx="4206240" cy="594360"/>
          </a:xfrm>
          <a:prstGeom prst="rect">
            <a:avLst/>
          </a:prstGeom>
          <a:noFill/>
          <a:ln/>
        </p:spPr>
        <p:txBody>
          <a:bodyPr wrap="square" lIns="0" tIns="0" rIns="0" bIns="0" rtlCol="0" anchor="ctr"/>
          <a:lstStyle/>
          <a:p>
            <a:pPr indent="0" marL="0">
              <a:buNone/>
            </a:pPr>
            <a:r>
              <a:rPr lang="en-US" sz="2000" dirty="0">
                <a:solidFill>
                  <a:srgbClr val="EFE9D9"/>
                </a:solidFill>
                <a:latin typeface="Calibri" pitchFamily="34" charset="0"/>
                <a:ea typeface="Calibri" pitchFamily="34" charset="-122"/>
                <a:cs typeface="Calibri" pitchFamily="34" charset="-120"/>
              </a:rPr>
              <a:t>Wizard + paiement test Stripe</a:t>
            </a:r>
            <a:endParaRPr lang="en-US" sz="2000" dirty="0"/>
          </a:p>
        </p:txBody>
      </p:sp>
      <p:sp>
        <p:nvSpPr>
          <p:cNvPr id="13" name="Shape 11"/>
          <p:cNvSpPr/>
          <p:nvPr/>
        </p:nvSpPr>
        <p:spPr>
          <a:xfrm>
            <a:off x="6263640" y="4114800"/>
            <a:ext cx="5349240" cy="1234440"/>
          </a:xfrm>
          <a:prstGeom prst="roundRect">
            <a:avLst>
              <a:gd name="adj" fmla="val 5926"/>
            </a:avLst>
          </a:prstGeom>
          <a:solidFill>
            <a:srgbClr val="24332C"/>
          </a:solidFill>
          <a:ln/>
        </p:spPr>
      </p:sp>
      <p:sp>
        <p:nvSpPr>
          <p:cNvPr id="14" name="Text 12"/>
          <p:cNvSpPr/>
          <p:nvPr/>
        </p:nvSpPr>
        <p:spPr>
          <a:xfrm>
            <a:off x="6492240" y="4434840"/>
            <a:ext cx="502920" cy="594360"/>
          </a:xfrm>
          <a:prstGeom prst="rect">
            <a:avLst/>
          </a:prstGeom>
          <a:noFill/>
          <a:ln/>
        </p:spPr>
        <p:txBody>
          <a:bodyPr wrap="square" lIns="0" tIns="0" rIns="0" bIns="0" rtlCol="0" anchor="ctr"/>
          <a:lstStyle/>
          <a:p>
            <a:pPr indent="0" marL="0">
              <a:buNone/>
            </a:pPr>
            <a:r>
              <a:rPr lang="en-US" sz="2400" dirty="0">
                <a:solidFill>
                  <a:srgbClr val="D48A5B"/>
                </a:solidFill>
                <a:latin typeface="Georgia" pitchFamily="34" charset="0"/>
                <a:ea typeface="Georgia" pitchFamily="34" charset="-122"/>
                <a:cs typeface="Georgia" pitchFamily="34" charset="-120"/>
              </a:rPr>
              <a:t>4</a:t>
            </a:r>
            <a:endParaRPr lang="en-US" sz="2400" dirty="0"/>
          </a:p>
        </p:txBody>
      </p:sp>
      <p:sp>
        <p:nvSpPr>
          <p:cNvPr id="15" name="Text 13"/>
          <p:cNvSpPr/>
          <p:nvPr/>
        </p:nvSpPr>
        <p:spPr>
          <a:xfrm>
            <a:off x="7132320" y="4434840"/>
            <a:ext cx="4206240" cy="594360"/>
          </a:xfrm>
          <a:prstGeom prst="rect">
            <a:avLst/>
          </a:prstGeom>
          <a:noFill/>
          <a:ln/>
        </p:spPr>
        <p:txBody>
          <a:bodyPr wrap="square" lIns="0" tIns="0" rIns="0" bIns="0" rtlCol="0" anchor="ctr"/>
          <a:lstStyle/>
          <a:p>
            <a:pPr indent="0" marL="0">
              <a:buNone/>
            </a:pPr>
            <a:r>
              <a:rPr lang="en-US" sz="2000" dirty="0">
                <a:solidFill>
                  <a:srgbClr val="EFE9D9"/>
                </a:solidFill>
                <a:latin typeface="Calibri" pitchFamily="34" charset="0"/>
                <a:ea typeface="Calibri" pitchFamily="34" charset="-122"/>
                <a:cs typeface="Calibri" pitchFamily="34" charset="-120"/>
              </a:rPr>
              <a:t>Dashboard Owner / Admin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RÉSULTATS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14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Un PFE livré et démontrable.</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3611880" cy="4937760"/>
          </a:xfrm>
          <a:prstGeom prst="roundRect">
            <a:avLst>
              <a:gd name="adj" fmla="val 2025"/>
            </a:avLst>
          </a:prstGeom>
          <a:solidFill>
            <a:srgbClr val="3B5D3A"/>
          </a:solidFill>
          <a:ln/>
          <a:effectLst>
            <a:outerShdw sx="100000" sy="100000" kx="0" ky="0" algn="bl" rotWithShape="0" blurRad="101600" dist="25400" dir="8100000">
              <a:srgbClr val="000000">
                <a:alpha val="10000"/>
              </a:srgbClr>
            </a:outerShdw>
          </a:effectLst>
        </p:spPr>
      </p:sp>
      <p:sp>
        <p:nvSpPr>
          <p:cNvPr id="8" name="Text 6"/>
          <p:cNvSpPr/>
          <p:nvPr/>
        </p:nvSpPr>
        <p:spPr>
          <a:xfrm>
            <a:off x="868680" y="1389888"/>
            <a:ext cx="3154680" cy="457200"/>
          </a:xfrm>
          <a:prstGeom prst="rect">
            <a:avLst/>
          </a:prstGeom>
          <a:noFill/>
          <a:ln/>
        </p:spPr>
        <p:txBody>
          <a:bodyPr wrap="square" lIns="0" tIns="0" rIns="0" bIns="0" rtlCol="0" anchor="ctr"/>
          <a:lstStyle/>
          <a:p>
            <a:pPr indent="0" marL="0">
              <a:buNone/>
            </a:pPr>
            <a:r>
              <a:rPr lang="en-US" sz="2200" dirty="0">
                <a:solidFill>
                  <a:srgbClr val="EFE9D9"/>
                </a:solidFill>
                <a:latin typeface="Georgia" pitchFamily="34" charset="0"/>
                <a:ea typeface="Georgia" pitchFamily="34" charset="-122"/>
                <a:cs typeface="Georgia" pitchFamily="34" charset="-120"/>
              </a:rPr>
              <a:t>Livré</a:t>
            </a:r>
            <a:endParaRPr lang="en-US" sz="2200" dirty="0"/>
          </a:p>
        </p:txBody>
      </p:sp>
      <p:sp>
        <p:nvSpPr>
          <p:cNvPr id="9" name="Text 7"/>
          <p:cNvSpPr/>
          <p:nvPr/>
        </p:nvSpPr>
        <p:spPr>
          <a:xfrm>
            <a:off x="868680" y="2057400"/>
            <a:ext cx="3154680" cy="777240"/>
          </a:xfrm>
          <a:prstGeom prst="rect">
            <a:avLst/>
          </a:prstGeom>
          <a:noFill/>
          <a:ln/>
        </p:spPr>
        <p:txBody>
          <a:bodyPr wrap="square" lIns="0" tIns="0" rIns="0" bIns="0" rtlCol="0" anchor="ctr"/>
          <a:lstStyle/>
          <a:p>
            <a:pPr indent="0" marL="0">
              <a:buNone/>
            </a:pPr>
            <a:r>
              <a:rPr lang="en-US" sz="1500" dirty="0">
                <a:solidFill>
                  <a:srgbClr val="C9C4B4"/>
                </a:solidFill>
                <a:latin typeface="Calibri" pitchFamily="34" charset="0"/>
                <a:ea typeface="Calibri" pitchFamily="34" charset="-122"/>
                <a:cs typeface="Calibri" pitchFamily="34" charset="-120"/>
              </a:rPr>
              <a:t>Plateforme full-stack 3 rôles</a:t>
            </a:r>
            <a:endParaRPr lang="en-US" sz="1500" dirty="0"/>
          </a:p>
        </p:txBody>
      </p:sp>
      <p:sp>
        <p:nvSpPr>
          <p:cNvPr id="10" name="Text 8"/>
          <p:cNvSpPr/>
          <p:nvPr/>
        </p:nvSpPr>
        <p:spPr>
          <a:xfrm>
            <a:off x="868680" y="2971800"/>
            <a:ext cx="3154680" cy="777240"/>
          </a:xfrm>
          <a:prstGeom prst="rect">
            <a:avLst/>
          </a:prstGeom>
          <a:noFill/>
          <a:ln/>
        </p:spPr>
        <p:txBody>
          <a:bodyPr wrap="square" lIns="0" tIns="0" rIns="0" bIns="0" rtlCol="0" anchor="ctr"/>
          <a:lstStyle/>
          <a:p>
            <a:pPr indent="0" marL="0">
              <a:buNone/>
            </a:pPr>
            <a:r>
              <a:rPr lang="en-US" sz="1500" dirty="0">
                <a:solidFill>
                  <a:srgbClr val="C9C4B4"/>
                </a:solidFill>
                <a:latin typeface="Calibri" pitchFamily="34" charset="0"/>
                <a:ea typeface="Calibri" pitchFamily="34" charset="-122"/>
                <a:cs typeface="Calibri" pitchFamily="34" charset="-120"/>
              </a:rPr>
              <a:t>Stripe test + ticket QR</a:t>
            </a:r>
            <a:endParaRPr lang="en-US" sz="1500" dirty="0"/>
          </a:p>
        </p:txBody>
      </p:sp>
      <p:sp>
        <p:nvSpPr>
          <p:cNvPr id="11" name="Text 9"/>
          <p:cNvSpPr/>
          <p:nvPr/>
        </p:nvSpPr>
        <p:spPr>
          <a:xfrm>
            <a:off x="868680" y="3886200"/>
            <a:ext cx="3154680" cy="777240"/>
          </a:xfrm>
          <a:prstGeom prst="rect">
            <a:avLst/>
          </a:prstGeom>
          <a:noFill/>
          <a:ln/>
        </p:spPr>
        <p:txBody>
          <a:bodyPr wrap="square" lIns="0" tIns="0" rIns="0" bIns="0" rtlCol="0" anchor="ctr"/>
          <a:lstStyle/>
          <a:p>
            <a:pPr indent="0" marL="0">
              <a:buNone/>
            </a:pPr>
            <a:r>
              <a:rPr lang="en-US" sz="1500" dirty="0">
                <a:solidFill>
                  <a:srgbClr val="C9C4B4"/>
                </a:solidFill>
                <a:latin typeface="Calibri" pitchFamily="34" charset="0"/>
                <a:ea typeface="Calibri" pitchFamily="34" charset="-122"/>
                <a:cs typeface="Calibri" pitchFamily="34" charset="-120"/>
              </a:rPr>
              <a:t>IA d'occupation + recos</a:t>
            </a:r>
            <a:endParaRPr lang="en-US" sz="1500" dirty="0"/>
          </a:p>
        </p:txBody>
      </p:sp>
      <p:sp>
        <p:nvSpPr>
          <p:cNvPr id="12" name="Text 10"/>
          <p:cNvSpPr/>
          <p:nvPr/>
        </p:nvSpPr>
        <p:spPr>
          <a:xfrm>
            <a:off x="868680" y="4800600"/>
            <a:ext cx="3154680" cy="777240"/>
          </a:xfrm>
          <a:prstGeom prst="rect">
            <a:avLst/>
          </a:prstGeom>
          <a:noFill/>
          <a:ln/>
        </p:spPr>
        <p:txBody>
          <a:bodyPr wrap="square" lIns="0" tIns="0" rIns="0" bIns="0" rtlCol="0" anchor="ctr"/>
          <a:lstStyle/>
          <a:p>
            <a:pPr indent="0" marL="0">
              <a:buNone/>
            </a:pPr>
            <a:r>
              <a:rPr lang="en-US" sz="1500" dirty="0">
                <a:solidFill>
                  <a:srgbClr val="C9C4B4"/>
                </a:solidFill>
                <a:latin typeface="Calibri" pitchFamily="34" charset="0"/>
                <a:ea typeface="Calibri" pitchFamily="34" charset="-122"/>
                <a:cs typeface="Calibri" pitchFamily="34" charset="-120"/>
              </a:rPr>
              <a:t>Docker, Swagger, rapport</a:t>
            </a:r>
            <a:endParaRPr lang="en-US" sz="1500" dirty="0"/>
          </a:p>
        </p:txBody>
      </p:sp>
      <p:sp>
        <p:nvSpPr>
          <p:cNvPr id="13" name="Shape 11"/>
          <p:cNvSpPr/>
          <p:nvPr/>
        </p:nvSpPr>
        <p:spPr>
          <a:xfrm>
            <a:off x="4434840" y="1207008"/>
            <a:ext cx="3611880" cy="4937760"/>
          </a:xfrm>
          <a:prstGeom prst="roundRect">
            <a:avLst>
              <a:gd name="adj" fmla="val 2025"/>
            </a:avLst>
          </a:prstGeom>
          <a:solidFill>
            <a:srgbClr val="FFFFFF"/>
          </a:solidFill>
          <a:ln/>
          <a:effectLst>
            <a:outerShdw sx="100000" sy="100000" kx="0" ky="0" algn="bl" rotWithShape="0" blurRad="101600" dist="25400" dir="8100000">
              <a:srgbClr val="000000">
                <a:alpha val="10000"/>
              </a:srgbClr>
            </a:outerShdw>
          </a:effectLst>
        </p:spPr>
      </p:sp>
      <p:sp>
        <p:nvSpPr>
          <p:cNvPr id="14" name="Text 12"/>
          <p:cNvSpPr/>
          <p:nvPr/>
        </p:nvSpPr>
        <p:spPr>
          <a:xfrm>
            <a:off x="4663440" y="1389888"/>
            <a:ext cx="3154680" cy="457200"/>
          </a:xfrm>
          <a:prstGeom prst="rect">
            <a:avLst/>
          </a:prstGeom>
          <a:noFill/>
          <a:ln/>
        </p:spPr>
        <p:txBody>
          <a:bodyPr wrap="square" lIns="0" tIns="0" rIns="0" bIns="0" rtlCol="0" anchor="ctr"/>
          <a:lstStyle/>
          <a:p>
            <a:pPr indent="0" marL="0">
              <a:buNone/>
            </a:pPr>
            <a:r>
              <a:rPr lang="en-US" sz="2200" dirty="0">
                <a:solidFill>
                  <a:srgbClr val="1B2420"/>
                </a:solidFill>
                <a:latin typeface="Georgia" pitchFamily="34" charset="0"/>
                <a:ea typeface="Georgia" pitchFamily="34" charset="-122"/>
                <a:cs typeface="Georgia" pitchFamily="34" charset="-120"/>
              </a:rPr>
              <a:t>Apports</a:t>
            </a:r>
            <a:endParaRPr lang="en-US" sz="2200" dirty="0"/>
          </a:p>
        </p:txBody>
      </p:sp>
      <p:sp>
        <p:nvSpPr>
          <p:cNvPr id="15" name="Text 13"/>
          <p:cNvSpPr/>
          <p:nvPr/>
        </p:nvSpPr>
        <p:spPr>
          <a:xfrm>
            <a:off x="4663440" y="20574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Architecture n-tiers réelle</a:t>
            </a:r>
            <a:endParaRPr lang="en-US" sz="1500" dirty="0"/>
          </a:p>
        </p:txBody>
      </p:sp>
      <p:sp>
        <p:nvSpPr>
          <p:cNvPr id="16" name="Text 14"/>
          <p:cNvSpPr/>
          <p:nvPr/>
        </p:nvSpPr>
        <p:spPr>
          <a:xfrm>
            <a:off x="4663440" y="29718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Sécurité JWT / Stripe</a:t>
            </a:r>
            <a:endParaRPr lang="en-US" sz="1500" dirty="0"/>
          </a:p>
        </p:txBody>
      </p:sp>
      <p:sp>
        <p:nvSpPr>
          <p:cNvPr id="17" name="Text 15"/>
          <p:cNvSpPr/>
          <p:nvPr/>
        </p:nvSpPr>
        <p:spPr>
          <a:xfrm>
            <a:off x="4663440" y="38862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ML dans un produit métier</a:t>
            </a:r>
            <a:endParaRPr lang="en-US" sz="1500" dirty="0"/>
          </a:p>
        </p:txBody>
      </p:sp>
      <p:sp>
        <p:nvSpPr>
          <p:cNvPr id="18" name="Text 16"/>
          <p:cNvSpPr/>
          <p:nvPr/>
        </p:nvSpPr>
        <p:spPr>
          <a:xfrm>
            <a:off x="4663440" y="48006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Lien métier GM-CAFE</a:t>
            </a:r>
            <a:endParaRPr lang="en-US" sz="1500" dirty="0"/>
          </a:p>
        </p:txBody>
      </p:sp>
      <p:sp>
        <p:nvSpPr>
          <p:cNvPr id="19" name="Shape 17"/>
          <p:cNvSpPr/>
          <p:nvPr/>
        </p:nvSpPr>
        <p:spPr>
          <a:xfrm>
            <a:off x="8229600" y="1207008"/>
            <a:ext cx="3611880" cy="4937760"/>
          </a:xfrm>
          <a:prstGeom prst="roundRect">
            <a:avLst>
              <a:gd name="adj" fmla="val 2025"/>
            </a:avLst>
          </a:prstGeom>
          <a:solidFill>
            <a:srgbClr val="FFFFFF"/>
          </a:solidFill>
          <a:ln/>
          <a:effectLst>
            <a:outerShdw sx="100000" sy="100000" kx="0" ky="0" algn="bl" rotWithShape="0" blurRad="101600" dist="25400" dir="8100000">
              <a:srgbClr val="000000">
                <a:alpha val="10000"/>
              </a:srgbClr>
            </a:outerShdw>
          </a:effectLst>
        </p:spPr>
      </p:sp>
      <p:sp>
        <p:nvSpPr>
          <p:cNvPr id="20" name="Text 18"/>
          <p:cNvSpPr/>
          <p:nvPr/>
        </p:nvSpPr>
        <p:spPr>
          <a:xfrm>
            <a:off x="8458200" y="1389888"/>
            <a:ext cx="3154680" cy="457200"/>
          </a:xfrm>
          <a:prstGeom prst="rect">
            <a:avLst/>
          </a:prstGeom>
          <a:noFill/>
          <a:ln/>
        </p:spPr>
        <p:txBody>
          <a:bodyPr wrap="square" lIns="0" tIns="0" rIns="0" bIns="0" rtlCol="0" anchor="ctr"/>
          <a:lstStyle/>
          <a:p>
            <a:pPr indent="0" marL="0">
              <a:buNone/>
            </a:pPr>
            <a:r>
              <a:rPr lang="en-US" sz="2200" dirty="0">
                <a:solidFill>
                  <a:srgbClr val="1B2420"/>
                </a:solidFill>
                <a:latin typeface="Georgia" pitchFamily="34" charset="0"/>
                <a:ea typeface="Georgia" pitchFamily="34" charset="-122"/>
                <a:cs typeface="Georgia" pitchFamily="34" charset="-120"/>
              </a:rPr>
              <a:t>Validation</a:t>
            </a:r>
            <a:endParaRPr lang="en-US" sz="2200" dirty="0"/>
          </a:p>
        </p:txBody>
      </p:sp>
      <p:sp>
        <p:nvSpPr>
          <p:cNvPr id="21" name="Text 19"/>
          <p:cNvSpPr/>
          <p:nvPr/>
        </p:nvSpPr>
        <p:spPr>
          <a:xfrm>
            <a:off x="8458200" y="20574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Tests métier (occupation, geo, paiement)</a:t>
            </a:r>
            <a:endParaRPr lang="en-US" sz="1500" dirty="0"/>
          </a:p>
        </p:txBody>
      </p:sp>
      <p:sp>
        <p:nvSpPr>
          <p:cNvPr id="22" name="Text 20"/>
          <p:cNvSpPr/>
          <p:nvPr/>
        </p:nvSpPr>
        <p:spPr>
          <a:xfrm>
            <a:off x="8458200" y="29718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Parcours Fan / Owner / Admin</a:t>
            </a:r>
            <a:endParaRPr lang="en-US" sz="1500" dirty="0"/>
          </a:p>
        </p:txBody>
      </p:sp>
      <p:sp>
        <p:nvSpPr>
          <p:cNvPr id="23" name="Text 21"/>
          <p:cNvSpPr/>
          <p:nvPr/>
        </p:nvSpPr>
        <p:spPr>
          <a:xfrm>
            <a:off x="8458200" y="38862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Routes protégées par rôle</a:t>
            </a:r>
            <a:endParaRPr lang="en-US" sz="1500" dirty="0"/>
          </a:p>
        </p:txBody>
      </p:sp>
      <p:sp>
        <p:nvSpPr>
          <p:cNvPr id="24" name="Text 22"/>
          <p:cNvSpPr/>
          <p:nvPr/>
        </p:nvSpPr>
        <p:spPr>
          <a:xfrm>
            <a:off x="8458200" y="4800600"/>
            <a:ext cx="3154680" cy="77724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Health checks API + IA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LIMITES ET PERSPECTIVES</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15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Ce qui reste pour 2030.</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Shape 5"/>
          <p:cNvSpPr/>
          <p:nvPr/>
        </p:nvSpPr>
        <p:spPr>
          <a:xfrm>
            <a:off x="640080" y="1207008"/>
            <a:ext cx="5532120" cy="4937760"/>
          </a:xfrm>
          <a:prstGeom prst="roundRect">
            <a:avLst>
              <a:gd name="adj" fmla="val 1481"/>
            </a:avLst>
          </a:prstGeom>
          <a:solidFill>
            <a:srgbClr val="FFFFFF"/>
          </a:solidFill>
          <a:ln/>
          <a:effectLst>
            <a:outerShdw sx="100000" sy="100000" kx="0" ky="0" algn="bl" rotWithShape="0" blurRad="101600" dist="25400" dir="8100000">
              <a:srgbClr val="000000">
                <a:alpha val="10000"/>
              </a:srgbClr>
            </a:outerShdw>
          </a:effectLst>
        </p:spPr>
      </p:sp>
      <p:sp>
        <p:nvSpPr>
          <p:cNvPr id="8" name="Text 6"/>
          <p:cNvSpPr/>
          <p:nvPr/>
        </p:nvSpPr>
        <p:spPr>
          <a:xfrm>
            <a:off x="914400" y="1389888"/>
            <a:ext cx="4983480" cy="320040"/>
          </a:xfrm>
          <a:prstGeom prst="rect">
            <a:avLst/>
          </a:prstGeom>
          <a:noFill/>
          <a:ln/>
        </p:spPr>
        <p:txBody>
          <a:bodyPr wrap="square" lIns="0" tIns="0" rIns="0" bIns="0" rtlCol="0" anchor="ctr"/>
          <a:lstStyle/>
          <a:p>
            <a:pPr indent="0" marL="0">
              <a:buNone/>
            </a:pPr>
            <a:r>
              <a:rPr lang="en-US" sz="1300" spc="150" kern="0" dirty="0">
                <a:solidFill>
                  <a:srgbClr val="C26A33"/>
                </a:solidFill>
                <a:latin typeface="Calibri" pitchFamily="34" charset="0"/>
                <a:ea typeface="Calibri" pitchFamily="34" charset="-122"/>
                <a:cs typeface="Calibri" pitchFamily="34" charset="-120"/>
              </a:rPr>
              <a:t>LIMITES</a:t>
            </a:r>
            <a:endParaRPr lang="en-US" sz="1300" dirty="0"/>
          </a:p>
        </p:txBody>
      </p:sp>
      <p:sp>
        <p:nvSpPr>
          <p:cNvPr id="9" name="Text 7"/>
          <p:cNvSpPr/>
          <p:nvPr/>
        </p:nvSpPr>
        <p:spPr>
          <a:xfrm>
            <a:off x="914400" y="1828800"/>
            <a:ext cx="4983480" cy="292608"/>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Données IA</a:t>
            </a:r>
            <a:endParaRPr lang="en-US" sz="1600" dirty="0"/>
          </a:p>
        </p:txBody>
      </p:sp>
      <p:sp>
        <p:nvSpPr>
          <p:cNvPr id="10" name="Text 8"/>
          <p:cNvSpPr/>
          <p:nvPr/>
        </p:nvSpPr>
        <p:spPr>
          <a:xfrm>
            <a:off x="914400" y="2148840"/>
            <a:ext cx="4983480" cy="54864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Modèle entraîné sans saison CDM réelle — MAE à recalibrer en production.</a:t>
            </a:r>
            <a:endParaRPr lang="en-US" sz="1400" dirty="0"/>
          </a:p>
        </p:txBody>
      </p:sp>
      <p:sp>
        <p:nvSpPr>
          <p:cNvPr id="11" name="Text 9"/>
          <p:cNvSpPr/>
          <p:nvPr/>
        </p:nvSpPr>
        <p:spPr>
          <a:xfrm>
            <a:off x="914400" y="2834640"/>
            <a:ext cx="4983480" cy="292608"/>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Paiement</a:t>
            </a:r>
            <a:endParaRPr lang="en-US" sz="1600" dirty="0"/>
          </a:p>
        </p:txBody>
      </p:sp>
      <p:sp>
        <p:nvSpPr>
          <p:cNvPr id="12" name="Text 10"/>
          <p:cNvSpPr/>
          <p:nvPr/>
        </p:nvSpPr>
        <p:spPr>
          <a:xfrm>
            <a:off x="914400" y="3154680"/>
            <a:ext cx="4983480" cy="54864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Stripe en mode test. Pas de webhooks live ni de facturation réelle.</a:t>
            </a:r>
            <a:endParaRPr lang="en-US" sz="1400" dirty="0"/>
          </a:p>
        </p:txBody>
      </p:sp>
      <p:sp>
        <p:nvSpPr>
          <p:cNvPr id="13" name="Text 11"/>
          <p:cNvSpPr/>
          <p:nvPr/>
        </p:nvSpPr>
        <p:spPr>
          <a:xfrm>
            <a:off x="914400" y="3840480"/>
            <a:ext cx="4983480" cy="292608"/>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Mobile</a:t>
            </a:r>
            <a:endParaRPr lang="en-US" sz="1600" dirty="0"/>
          </a:p>
        </p:txBody>
      </p:sp>
      <p:sp>
        <p:nvSpPr>
          <p:cNvPr id="14" name="Text 12"/>
          <p:cNvSpPr/>
          <p:nvPr/>
        </p:nvSpPr>
        <p:spPr>
          <a:xfrm>
            <a:off x="914400" y="4160520"/>
            <a:ext cx="4983480" cy="54864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SPA responsive, pas d'application native.</a:t>
            </a:r>
            <a:endParaRPr lang="en-US" sz="1400" dirty="0"/>
          </a:p>
        </p:txBody>
      </p:sp>
      <p:sp>
        <p:nvSpPr>
          <p:cNvPr id="15" name="Text 13"/>
          <p:cNvSpPr/>
          <p:nvPr/>
        </p:nvSpPr>
        <p:spPr>
          <a:xfrm>
            <a:off x="914400" y="4846320"/>
            <a:ext cx="4983480" cy="292608"/>
          </a:xfrm>
          <a:prstGeom prst="rect">
            <a:avLst/>
          </a:prstGeom>
          <a:noFill/>
          <a:ln/>
        </p:spPr>
        <p:txBody>
          <a:bodyPr wrap="square" lIns="0" tIns="0" rIns="0" bIns="0" rtlCol="0" anchor="ctr"/>
          <a:lstStyle/>
          <a:p>
            <a:pPr indent="0" marL="0">
              <a:buNone/>
            </a:pPr>
            <a:r>
              <a:rPr lang="en-US" sz="1600" dirty="0">
                <a:solidFill>
                  <a:srgbClr val="1B2420"/>
                </a:solidFill>
                <a:latin typeface="Georgia" pitchFamily="34" charset="0"/>
                <a:ea typeface="Georgia" pitchFamily="34" charset="-122"/>
                <a:cs typeface="Georgia" pitchFamily="34" charset="-120"/>
              </a:rPr>
              <a:t>Couverture tests</a:t>
            </a:r>
            <a:endParaRPr lang="en-US" sz="1600" dirty="0"/>
          </a:p>
        </p:txBody>
      </p:sp>
      <p:sp>
        <p:nvSpPr>
          <p:cNvPr id="16" name="Text 14"/>
          <p:cNvSpPr/>
          <p:nvPr/>
        </p:nvSpPr>
        <p:spPr>
          <a:xfrm>
            <a:off x="914400" y="5166360"/>
            <a:ext cx="4983480" cy="548640"/>
          </a:xfrm>
          <a:prstGeom prst="rect">
            <a:avLst/>
          </a:prstGeom>
          <a:noFill/>
          <a:ln/>
        </p:spPr>
        <p:txBody>
          <a:bodyPr wrap="square" lIns="0" tIns="0" rIns="0" bIns="0" rtlCol="0" anchor="ctr"/>
          <a:lstStyle/>
          <a:p>
            <a:pPr indent="0" marL="0">
              <a:buNone/>
            </a:pPr>
            <a:r>
              <a:rPr lang="en-US" sz="1400" dirty="0">
                <a:solidFill>
                  <a:srgbClr val="3B3F3A"/>
                </a:solidFill>
                <a:latin typeface="Calibri" pitchFamily="34" charset="0"/>
                <a:ea typeface="Calibri" pitchFamily="34" charset="-122"/>
                <a:cs typeface="Calibri" pitchFamily="34" charset="-120"/>
              </a:rPr>
              <a:t>Règles métier unitaires ; parcours recettés manuellement.</a:t>
            </a:r>
            <a:endParaRPr lang="en-US" sz="1400" dirty="0"/>
          </a:p>
        </p:txBody>
      </p:sp>
      <p:sp>
        <p:nvSpPr>
          <p:cNvPr id="17" name="Shape 15"/>
          <p:cNvSpPr/>
          <p:nvPr/>
        </p:nvSpPr>
        <p:spPr>
          <a:xfrm>
            <a:off x="6400800" y="1207008"/>
            <a:ext cx="5120640" cy="4937760"/>
          </a:xfrm>
          <a:prstGeom prst="roundRect">
            <a:avLst>
              <a:gd name="adj" fmla="val 1481"/>
            </a:avLst>
          </a:prstGeom>
          <a:solidFill>
            <a:srgbClr val="3B5D3A"/>
          </a:solidFill>
          <a:ln/>
          <a:effectLst>
            <a:outerShdw sx="100000" sy="100000" kx="0" ky="0" algn="bl" rotWithShape="0" blurRad="101600" dist="25400" dir="8100000">
              <a:srgbClr val="000000">
                <a:alpha val="10000"/>
              </a:srgbClr>
            </a:outerShdw>
          </a:effectLst>
        </p:spPr>
      </p:sp>
      <p:sp>
        <p:nvSpPr>
          <p:cNvPr id="18" name="Text 16"/>
          <p:cNvSpPr/>
          <p:nvPr/>
        </p:nvSpPr>
        <p:spPr>
          <a:xfrm>
            <a:off x="6675120" y="1389888"/>
            <a:ext cx="4617720" cy="320040"/>
          </a:xfrm>
          <a:prstGeom prst="rect">
            <a:avLst/>
          </a:prstGeom>
          <a:noFill/>
          <a:ln/>
        </p:spPr>
        <p:txBody>
          <a:bodyPr wrap="square" lIns="0" tIns="0" rIns="0" bIns="0" rtlCol="0" anchor="ctr"/>
          <a:lstStyle/>
          <a:p>
            <a:pPr indent="0" marL="0">
              <a:buNone/>
            </a:pPr>
            <a:r>
              <a:rPr lang="en-US" sz="1300" spc="150" kern="0" dirty="0">
                <a:solidFill>
                  <a:srgbClr val="7A9A6A"/>
                </a:solidFill>
                <a:latin typeface="Calibri" pitchFamily="34" charset="0"/>
                <a:ea typeface="Calibri" pitchFamily="34" charset="-122"/>
                <a:cs typeface="Calibri" pitchFamily="34" charset="-120"/>
              </a:rPr>
              <a:t>PERSPECTIVES</a:t>
            </a:r>
            <a:endParaRPr lang="en-US" sz="1300" dirty="0"/>
          </a:p>
        </p:txBody>
      </p:sp>
      <p:sp>
        <p:nvSpPr>
          <p:cNvPr id="19" name="Text 17"/>
          <p:cNvSpPr/>
          <p:nvPr/>
        </p:nvSpPr>
        <p:spPr>
          <a:xfrm>
            <a:off x="6675120" y="1965960"/>
            <a:ext cx="4617720" cy="685800"/>
          </a:xfrm>
          <a:prstGeom prst="rect">
            <a:avLst/>
          </a:prstGeom>
          <a:noFill/>
          <a:ln/>
        </p:spPr>
        <p:txBody>
          <a:bodyPr wrap="square" lIns="0" tIns="0" rIns="0" bIns="0" rtlCol="0" anchor="ctr"/>
          <a:lstStyle/>
          <a:p>
            <a:pPr indent="0" marL="0">
              <a:buNone/>
            </a:pPr>
            <a:r>
              <a:rPr lang="en-US" sz="1800" dirty="0">
                <a:solidFill>
                  <a:srgbClr val="EFE9D9"/>
                </a:solidFill>
                <a:latin typeface="Calibri" pitchFamily="34" charset="0"/>
                <a:ea typeface="Calibri" pitchFamily="34" charset="-122"/>
                <a:cs typeface="Calibri" pitchFamily="34" charset="-120"/>
              </a:rPr>
              <a:t>1.  FanBot conversationnel enrichi</a:t>
            </a:r>
            <a:endParaRPr lang="en-US" sz="1800" dirty="0"/>
          </a:p>
        </p:txBody>
      </p:sp>
      <p:sp>
        <p:nvSpPr>
          <p:cNvPr id="20" name="Text 18"/>
          <p:cNvSpPr/>
          <p:nvPr/>
        </p:nvSpPr>
        <p:spPr>
          <a:xfrm>
            <a:off x="6675120" y="2880360"/>
            <a:ext cx="4617720" cy="685800"/>
          </a:xfrm>
          <a:prstGeom prst="rect">
            <a:avLst/>
          </a:prstGeom>
          <a:noFill/>
          <a:ln/>
        </p:spPr>
        <p:txBody>
          <a:bodyPr wrap="square" lIns="0" tIns="0" rIns="0" bIns="0" rtlCol="0" anchor="ctr"/>
          <a:lstStyle/>
          <a:p>
            <a:pPr indent="0" marL="0">
              <a:buNone/>
            </a:pPr>
            <a:r>
              <a:rPr lang="en-US" sz="1800" dirty="0">
                <a:solidFill>
                  <a:srgbClr val="EFE9D9"/>
                </a:solidFill>
                <a:latin typeface="Calibri" pitchFamily="34" charset="0"/>
                <a:ea typeface="Calibri" pitchFamily="34" charset="-122"/>
                <a:cs typeface="Calibri" pitchFamily="34" charset="-120"/>
              </a:rPr>
              <a:t>2.  Application mobile native</a:t>
            </a:r>
            <a:endParaRPr lang="en-US" sz="1800" dirty="0"/>
          </a:p>
        </p:txBody>
      </p:sp>
      <p:sp>
        <p:nvSpPr>
          <p:cNvPr id="21" name="Text 19"/>
          <p:cNvSpPr/>
          <p:nvPr/>
        </p:nvSpPr>
        <p:spPr>
          <a:xfrm>
            <a:off x="6675120" y="3794760"/>
            <a:ext cx="4617720" cy="685800"/>
          </a:xfrm>
          <a:prstGeom prst="rect">
            <a:avLst/>
          </a:prstGeom>
          <a:noFill/>
          <a:ln/>
        </p:spPr>
        <p:txBody>
          <a:bodyPr wrap="square" lIns="0" tIns="0" rIns="0" bIns="0" rtlCol="0" anchor="ctr"/>
          <a:lstStyle/>
          <a:p>
            <a:pPr indent="0" marL="0">
              <a:buNone/>
            </a:pPr>
            <a:r>
              <a:rPr lang="en-US" sz="1800" dirty="0">
                <a:solidFill>
                  <a:srgbClr val="EFE9D9"/>
                </a:solidFill>
                <a:latin typeface="Calibri" pitchFamily="34" charset="0"/>
                <a:ea typeface="Calibri" pitchFamily="34" charset="-122"/>
                <a:cs typeface="Calibri" pitchFamily="34" charset="-120"/>
              </a:rPr>
              <a:t>3.  Données réelles + suivi MAE</a:t>
            </a:r>
            <a:endParaRPr lang="en-US" sz="1800" dirty="0"/>
          </a:p>
        </p:txBody>
      </p:sp>
      <p:sp>
        <p:nvSpPr>
          <p:cNvPr id="22" name="Text 20"/>
          <p:cNvSpPr/>
          <p:nvPr/>
        </p:nvSpPr>
        <p:spPr>
          <a:xfrm>
            <a:off x="6675120" y="4709160"/>
            <a:ext cx="4617720" cy="685800"/>
          </a:xfrm>
          <a:prstGeom prst="rect">
            <a:avLst/>
          </a:prstGeom>
          <a:noFill/>
          <a:ln/>
        </p:spPr>
        <p:txBody>
          <a:bodyPr wrap="square" lIns="0" tIns="0" rIns="0" bIns="0" rtlCol="0" anchor="ctr"/>
          <a:lstStyle/>
          <a:p>
            <a:pPr indent="0" marL="0">
              <a:buNone/>
            </a:pPr>
            <a:r>
              <a:rPr lang="en-US" sz="1800" dirty="0">
                <a:solidFill>
                  <a:srgbClr val="EFE9D9"/>
                </a:solidFill>
                <a:latin typeface="Calibri" pitchFamily="34" charset="0"/>
                <a:ea typeface="Calibri" pitchFamily="34" charset="-122"/>
                <a:cs typeface="Calibri" pitchFamily="34" charset="-120"/>
              </a:rPr>
              <a:t>4.  Alertes matchs / occupation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EDE3"/>
        </a:solidFill>
      </p:bgPr>
    </p:bg>
    <p:spTree>
      <p:nvGrpSpPr>
        <p:cNvPr id="1" name=""/>
        <p:cNvGrpSpPr/>
        <p:nvPr/>
      </p:nvGrpSpPr>
      <p:grpSpPr>
        <a:xfrm>
          <a:off x="0" y="0"/>
          <a:ext cx="0" cy="0"/>
          <a:chOff x="0" y="0"/>
          <a:chExt cx="0" cy="0"/>
        </a:xfrm>
      </p:grpSpPr>
      <p:sp>
        <p:nvSpPr>
          <p:cNvPr id="2" name="Text 0"/>
          <p:cNvSpPr/>
          <p:nvPr/>
        </p:nvSpPr>
        <p:spPr>
          <a:xfrm>
            <a:off x="640080" y="256032"/>
            <a:ext cx="8595360" cy="237744"/>
          </a:xfrm>
          <a:prstGeom prst="rect">
            <a:avLst/>
          </a:prstGeom>
          <a:noFill/>
          <a:ln/>
        </p:spPr>
        <p:txBody>
          <a:bodyPr wrap="square" lIns="0" tIns="0" rIns="0" bIns="0" rtlCol="0" anchor="ctr"/>
          <a:lstStyle/>
          <a:p>
            <a:pPr indent="0" marL="0">
              <a:buNone/>
            </a:pPr>
            <a:r>
              <a:rPr lang="en-US" sz="1100" spc="220" kern="0" dirty="0">
                <a:solidFill>
                  <a:srgbClr val="7A7F76"/>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10088575" y="256032"/>
            <a:ext cx="1463040" cy="237744"/>
          </a:xfrm>
          <a:prstGeom prst="rect">
            <a:avLst/>
          </a:prstGeom>
          <a:noFill/>
          <a:ln/>
        </p:spPr>
        <p:txBody>
          <a:bodyPr wrap="square" lIns="0" tIns="0" rIns="0" bIns="0" rtlCol="0" anchor="ctr"/>
          <a:lstStyle/>
          <a:p>
            <a:pPr algn="r" indent="0" marL="0">
              <a:buNone/>
            </a:pPr>
            <a:r>
              <a:rPr lang="en-US" sz="1100" spc="150" kern="0" dirty="0">
                <a:solidFill>
                  <a:srgbClr val="7A7F76"/>
                </a:solidFill>
                <a:latin typeface="Calibri" pitchFamily="34" charset="0"/>
                <a:ea typeface="Calibri" pitchFamily="34" charset="-122"/>
                <a:cs typeface="Calibri" pitchFamily="34" charset="-120"/>
              </a:rPr>
              <a:t>16  /  17</a:t>
            </a:r>
            <a:endParaRPr lang="en-US" sz="1100" dirty="0"/>
          </a:p>
        </p:txBody>
      </p:sp>
      <p:sp>
        <p:nvSpPr>
          <p:cNvPr id="4" name="Text 2"/>
          <p:cNvSpPr/>
          <p:nvPr/>
        </p:nvSpPr>
        <p:spPr>
          <a:xfrm>
            <a:off x="640080" y="512064"/>
            <a:ext cx="10911535" cy="566928"/>
          </a:xfrm>
          <a:prstGeom prst="rect">
            <a:avLst/>
          </a:prstGeom>
          <a:noFill/>
          <a:ln/>
        </p:spPr>
        <p:txBody>
          <a:bodyPr wrap="square" lIns="0" tIns="0" rIns="0" bIns="0" rtlCol="0" anchor="t"/>
          <a:lstStyle/>
          <a:p>
            <a:pPr indent="0" marL="0">
              <a:buNone/>
            </a:pPr>
            <a:r>
              <a:rPr lang="en-US" sz="2600" dirty="0">
                <a:solidFill>
                  <a:srgbClr val="1B2420"/>
                </a:solidFill>
                <a:latin typeface="Georgia" pitchFamily="34" charset="0"/>
                <a:ea typeface="Georgia" pitchFamily="34" charset="-122"/>
                <a:cs typeface="Georgia" pitchFamily="34" charset="-120"/>
              </a:rPr>
              <a:t>Réponse à la problématique.</a:t>
            </a:r>
            <a:endParaRPr lang="en-US" sz="2600" dirty="0"/>
          </a:p>
        </p:txBody>
      </p:sp>
      <p:sp>
        <p:nvSpPr>
          <p:cNvPr id="5" name="Shape 3"/>
          <p:cNvSpPr/>
          <p:nvPr/>
        </p:nvSpPr>
        <p:spPr>
          <a:xfrm>
            <a:off x="640080" y="6473952"/>
            <a:ext cx="10911535" cy="0"/>
          </a:xfrm>
          <a:prstGeom prst="line">
            <a:avLst/>
          </a:prstGeom>
          <a:noFill/>
          <a:ln w="9525">
            <a:solidFill>
              <a:srgbClr val="C9C4B4"/>
            </a:solidFill>
            <a:prstDash val="solid"/>
          </a:ln>
        </p:spPr>
      </p:sp>
      <p:sp>
        <p:nvSpPr>
          <p:cNvPr id="6" name="Text 4"/>
          <p:cNvSpPr/>
          <p:nvPr/>
        </p:nvSpPr>
        <p:spPr>
          <a:xfrm>
            <a:off x="640080" y="6547104"/>
            <a:ext cx="10881360" cy="201168"/>
          </a:xfrm>
          <a:prstGeom prst="rect">
            <a:avLst/>
          </a:prstGeom>
          <a:noFill/>
          <a:ln/>
        </p:spPr>
        <p:txBody>
          <a:bodyPr wrap="square" lIns="0" tIns="0" rIns="0" bIns="0" rtlCol="0" anchor="ctr"/>
          <a:lstStyle/>
          <a:p>
            <a:pPr indent="0" marL="0">
              <a:buNone/>
            </a:pPr>
            <a:r>
              <a:rPr lang="en-US" sz="1000" spc="50" kern="0" dirty="0">
                <a:solidFill>
                  <a:srgbClr val="7A7F76"/>
                </a:solidFill>
                <a:latin typeface="Calibri" pitchFamily="34" charset="0"/>
                <a:ea typeface="Calibri" pitchFamily="34" charset="-122"/>
                <a:cs typeface="Calibri" pitchFamily="34" charset="-120"/>
              </a:rPr>
              <a:t>SOUTENANCE PFE   ·   FANCONNECT 2030   ·   GM-SOFT  ·   IGA 2025 / 2026</a:t>
            </a:r>
            <a:endParaRPr lang="en-US" sz="1000" dirty="0"/>
          </a:p>
        </p:txBody>
      </p:sp>
      <p:sp>
        <p:nvSpPr>
          <p:cNvPr id="7" name="Text 5"/>
          <p:cNvSpPr/>
          <p:nvPr/>
        </p:nvSpPr>
        <p:spPr>
          <a:xfrm>
            <a:off x="640080" y="1207008"/>
            <a:ext cx="10972800" cy="1143000"/>
          </a:xfrm>
          <a:prstGeom prst="rect">
            <a:avLst/>
          </a:prstGeom>
          <a:noFill/>
          <a:ln/>
        </p:spPr>
        <p:txBody>
          <a:bodyPr wrap="square" lIns="0" tIns="0" rIns="0" bIns="0" rtlCol="0" anchor="ctr"/>
          <a:lstStyle/>
          <a:p>
            <a:pPr indent="0" marL="0">
              <a:buNone/>
            </a:pPr>
            <a:r>
              <a:rPr lang="en-US" sz="1700" dirty="0">
                <a:solidFill>
                  <a:srgbClr val="3B3F3A"/>
                </a:solidFill>
                <a:latin typeface="Calibri" pitchFamily="34" charset="0"/>
                <a:ea typeface="Calibri" pitchFamily="34" charset="-122"/>
                <a:cs typeface="Calibri" pitchFamily="34" charset="-120"/>
              </a:rPr>
              <a:t>Oui : une plateforme n-tiers, sécurisée par JWT et Stripe, permet au fan de réserver un café pour un match, et au propriétaire d'anticiper l'affluence grâce à un moteur d'occupation et un modèle Random Forest.</a:t>
            </a:r>
            <a:endParaRPr lang="en-US" sz="1700" dirty="0"/>
          </a:p>
        </p:txBody>
      </p:sp>
      <p:sp>
        <p:nvSpPr>
          <p:cNvPr id="8" name="Shape 6"/>
          <p:cNvSpPr/>
          <p:nvPr/>
        </p:nvSpPr>
        <p:spPr>
          <a:xfrm>
            <a:off x="640080" y="2560320"/>
            <a:ext cx="2743200" cy="3566160"/>
          </a:xfrm>
          <a:prstGeom prst="roundRect">
            <a:avLst>
              <a:gd name="adj" fmla="val 2667"/>
            </a:avLst>
          </a:prstGeom>
          <a:solidFill>
            <a:srgbClr val="FFFFFF"/>
          </a:solidFill>
          <a:ln/>
          <a:effectLst>
            <a:outerShdw sx="100000" sy="100000" kx="0" ky="0" algn="bl" rotWithShape="0" blurRad="101600" dist="25400" dir="8100000">
              <a:srgbClr val="000000">
                <a:alpha val="10000"/>
              </a:srgbClr>
            </a:outerShdw>
          </a:effectLst>
        </p:spPr>
      </p:sp>
      <p:sp>
        <p:nvSpPr>
          <p:cNvPr id="9" name="Text 7"/>
          <p:cNvSpPr/>
          <p:nvPr/>
        </p:nvSpPr>
        <p:spPr>
          <a:xfrm>
            <a:off x="822960" y="2788920"/>
            <a:ext cx="2377440" cy="320040"/>
          </a:xfrm>
          <a:prstGeom prst="rect">
            <a:avLst/>
          </a:prstGeom>
          <a:noFill/>
          <a:ln/>
        </p:spPr>
        <p:txBody>
          <a:bodyPr wrap="square" lIns="0" tIns="0" rIns="0" bIns="0" rtlCol="0" anchor="ctr"/>
          <a:lstStyle/>
          <a:p>
            <a:pPr indent="0" marL="0">
              <a:buNone/>
            </a:pPr>
            <a:r>
              <a:rPr lang="en-US" sz="1300" spc="120" kern="0" dirty="0">
                <a:solidFill>
                  <a:srgbClr val="C26A33"/>
                </a:solidFill>
                <a:latin typeface="Calibri" pitchFamily="34" charset="0"/>
                <a:ea typeface="Calibri" pitchFamily="34" charset="-122"/>
                <a:cs typeface="Calibri" pitchFamily="34" charset="-120"/>
              </a:rPr>
              <a:t>01</a:t>
            </a:r>
            <a:endParaRPr lang="en-US" sz="1300" dirty="0"/>
          </a:p>
        </p:txBody>
      </p:sp>
      <p:sp>
        <p:nvSpPr>
          <p:cNvPr id="10" name="Text 8"/>
          <p:cNvSpPr/>
          <p:nvPr/>
        </p:nvSpPr>
        <p:spPr>
          <a:xfrm>
            <a:off x="822960" y="3246120"/>
            <a:ext cx="2377440" cy="50292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Cadrage</a:t>
            </a:r>
            <a:endParaRPr lang="en-US" sz="2000" dirty="0"/>
          </a:p>
        </p:txBody>
      </p:sp>
      <p:sp>
        <p:nvSpPr>
          <p:cNvPr id="11" name="Text 9"/>
          <p:cNvSpPr/>
          <p:nvPr/>
        </p:nvSpPr>
        <p:spPr>
          <a:xfrm>
            <a:off x="822960" y="3931920"/>
            <a:ext cx="2377440" cy="1737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Besoin réel GM-CAFE × CDM 2030, périmètre tenu.</a:t>
            </a:r>
            <a:endParaRPr lang="en-US" sz="1500" dirty="0"/>
          </a:p>
        </p:txBody>
      </p:sp>
      <p:sp>
        <p:nvSpPr>
          <p:cNvPr id="12" name="Shape 10"/>
          <p:cNvSpPr/>
          <p:nvPr/>
        </p:nvSpPr>
        <p:spPr>
          <a:xfrm>
            <a:off x="3520440" y="2560320"/>
            <a:ext cx="2743200" cy="3566160"/>
          </a:xfrm>
          <a:prstGeom prst="roundRect">
            <a:avLst>
              <a:gd name="adj" fmla="val 2667"/>
            </a:avLst>
          </a:prstGeom>
          <a:solidFill>
            <a:srgbClr val="FFFFFF"/>
          </a:solidFill>
          <a:ln/>
          <a:effectLst>
            <a:outerShdw sx="100000" sy="100000" kx="0" ky="0" algn="bl" rotWithShape="0" blurRad="101600" dist="25400" dir="8100000">
              <a:srgbClr val="000000">
                <a:alpha val="10000"/>
              </a:srgbClr>
            </a:outerShdw>
          </a:effectLst>
        </p:spPr>
      </p:sp>
      <p:sp>
        <p:nvSpPr>
          <p:cNvPr id="13" name="Text 11"/>
          <p:cNvSpPr/>
          <p:nvPr/>
        </p:nvSpPr>
        <p:spPr>
          <a:xfrm>
            <a:off x="3703320" y="2788920"/>
            <a:ext cx="2377440" cy="320040"/>
          </a:xfrm>
          <a:prstGeom prst="rect">
            <a:avLst/>
          </a:prstGeom>
          <a:noFill/>
          <a:ln/>
        </p:spPr>
        <p:txBody>
          <a:bodyPr wrap="square" lIns="0" tIns="0" rIns="0" bIns="0" rtlCol="0" anchor="ctr"/>
          <a:lstStyle/>
          <a:p>
            <a:pPr indent="0" marL="0">
              <a:buNone/>
            </a:pPr>
            <a:r>
              <a:rPr lang="en-US" sz="1300" spc="120" kern="0" dirty="0">
                <a:solidFill>
                  <a:srgbClr val="C26A33"/>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703320" y="3246120"/>
            <a:ext cx="2377440" cy="50292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Conception</a:t>
            </a:r>
            <a:endParaRPr lang="en-US" sz="2000" dirty="0"/>
          </a:p>
        </p:txBody>
      </p:sp>
      <p:sp>
        <p:nvSpPr>
          <p:cNvPr id="15" name="Text 13"/>
          <p:cNvSpPr/>
          <p:nvPr/>
        </p:nvSpPr>
        <p:spPr>
          <a:xfrm>
            <a:off x="3703320" y="3931920"/>
            <a:ext cx="2377440" cy="1737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UML, 3-tiers, microservice IA découplé.</a:t>
            </a:r>
            <a:endParaRPr lang="en-US" sz="1500" dirty="0"/>
          </a:p>
        </p:txBody>
      </p:sp>
      <p:sp>
        <p:nvSpPr>
          <p:cNvPr id="16" name="Shape 14"/>
          <p:cNvSpPr/>
          <p:nvPr/>
        </p:nvSpPr>
        <p:spPr>
          <a:xfrm>
            <a:off x="6400800" y="2560320"/>
            <a:ext cx="2743200" cy="3566160"/>
          </a:xfrm>
          <a:prstGeom prst="roundRect">
            <a:avLst>
              <a:gd name="adj" fmla="val 2667"/>
            </a:avLst>
          </a:prstGeom>
          <a:solidFill>
            <a:srgbClr val="FFFFFF"/>
          </a:solidFill>
          <a:ln/>
          <a:effectLst>
            <a:outerShdw sx="100000" sy="100000" kx="0" ky="0" algn="bl" rotWithShape="0" blurRad="101600" dist="25400" dir="8100000">
              <a:srgbClr val="000000">
                <a:alpha val="10000"/>
              </a:srgbClr>
            </a:outerShdw>
          </a:effectLst>
        </p:spPr>
      </p:sp>
      <p:sp>
        <p:nvSpPr>
          <p:cNvPr id="17" name="Text 15"/>
          <p:cNvSpPr/>
          <p:nvPr/>
        </p:nvSpPr>
        <p:spPr>
          <a:xfrm>
            <a:off x="6583680" y="2788920"/>
            <a:ext cx="2377440" cy="320040"/>
          </a:xfrm>
          <a:prstGeom prst="rect">
            <a:avLst/>
          </a:prstGeom>
          <a:noFill/>
          <a:ln/>
        </p:spPr>
        <p:txBody>
          <a:bodyPr wrap="square" lIns="0" tIns="0" rIns="0" bIns="0" rtlCol="0" anchor="ctr"/>
          <a:lstStyle/>
          <a:p>
            <a:pPr indent="0" marL="0">
              <a:buNone/>
            </a:pPr>
            <a:r>
              <a:rPr lang="en-US" sz="1300" spc="120" kern="0" dirty="0">
                <a:solidFill>
                  <a:srgbClr val="C26A33"/>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6583680" y="3246120"/>
            <a:ext cx="2377440" cy="502920"/>
          </a:xfrm>
          <a:prstGeom prst="rect">
            <a:avLst/>
          </a:prstGeom>
          <a:noFill/>
          <a:ln/>
        </p:spPr>
        <p:txBody>
          <a:bodyPr wrap="square" lIns="0" tIns="0" rIns="0" bIns="0" rtlCol="0" anchor="ctr"/>
          <a:lstStyle/>
          <a:p>
            <a:pPr indent="0" marL="0">
              <a:buNone/>
            </a:pPr>
            <a:r>
              <a:rPr lang="en-US" sz="2000" dirty="0">
                <a:solidFill>
                  <a:srgbClr val="1B2420"/>
                </a:solidFill>
                <a:latin typeface="Georgia" pitchFamily="34" charset="0"/>
                <a:ea typeface="Georgia" pitchFamily="34" charset="-122"/>
                <a:cs typeface="Georgia" pitchFamily="34" charset="-120"/>
              </a:rPr>
              <a:t>Produit</a:t>
            </a:r>
            <a:endParaRPr lang="en-US" sz="2000" dirty="0"/>
          </a:p>
        </p:txBody>
      </p:sp>
      <p:sp>
        <p:nvSpPr>
          <p:cNvPr id="19" name="Text 17"/>
          <p:cNvSpPr/>
          <p:nvPr/>
        </p:nvSpPr>
        <p:spPr>
          <a:xfrm>
            <a:off x="6583680" y="3931920"/>
            <a:ext cx="2377440" cy="1737360"/>
          </a:xfrm>
          <a:prstGeom prst="rect">
            <a:avLst/>
          </a:prstGeom>
          <a:noFill/>
          <a:ln/>
        </p:spPr>
        <p:txBody>
          <a:bodyPr wrap="square" lIns="0" tIns="0" rIns="0" bIns="0" rtlCol="0" anchor="ctr"/>
          <a:lstStyle/>
          <a:p>
            <a:pPr indent="0" marL="0">
              <a:buNone/>
            </a:pPr>
            <a:r>
              <a:rPr lang="en-US" sz="1500" dirty="0">
                <a:solidFill>
                  <a:srgbClr val="3B3F3A"/>
                </a:solidFill>
                <a:latin typeface="Calibri" pitchFamily="34" charset="0"/>
                <a:ea typeface="Calibri" pitchFamily="34" charset="-122"/>
                <a:cs typeface="Calibri" pitchFamily="34" charset="-120"/>
              </a:rPr>
              <a:t>Trois rôles, parcours complet jusqu'au QR.</a:t>
            </a:r>
            <a:endParaRPr lang="en-US" sz="1500" dirty="0"/>
          </a:p>
        </p:txBody>
      </p:sp>
      <p:sp>
        <p:nvSpPr>
          <p:cNvPr id="20" name="Shape 18"/>
          <p:cNvSpPr/>
          <p:nvPr/>
        </p:nvSpPr>
        <p:spPr>
          <a:xfrm>
            <a:off x="9281160" y="2560320"/>
            <a:ext cx="2743200" cy="3566160"/>
          </a:xfrm>
          <a:prstGeom prst="roundRect">
            <a:avLst>
              <a:gd name="adj" fmla="val 2667"/>
            </a:avLst>
          </a:prstGeom>
          <a:solidFill>
            <a:srgbClr val="3B5D3A"/>
          </a:solidFill>
          <a:ln/>
          <a:effectLst>
            <a:outerShdw sx="100000" sy="100000" kx="0" ky="0" algn="bl" rotWithShape="0" blurRad="101600" dist="25400" dir="8100000">
              <a:srgbClr val="000000">
                <a:alpha val="10000"/>
              </a:srgbClr>
            </a:outerShdw>
          </a:effectLst>
        </p:spPr>
      </p:sp>
      <p:sp>
        <p:nvSpPr>
          <p:cNvPr id="21" name="Text 19"/>
          <p:cNvSpPr/>
          <p:nvPr/>
        </p:nvSpPr>
        <p:spPr>
          <a:xfrm>
            <a:off x="9464040" y="2788920"/>
            <a:ext cx="2377440" cy="320040"/>
          </a:xfrm>
          <a:prstGeom prst="rect">
            <a:avLst/>
          </a:prstGeom>
          <a:noFill/>
          <a:ln/>
        </p:spPr>
        <p:txBody>
          <a:bodyPr wrap="square" lIns="0" tIns="0" rIns="0" bIns="0" rtlCol="0" anchor="ctr"/>
          <a:lstStyle/>
          <a:p>
            <a:pPr indent="0" marL="0">
              <a:buNone/>
            </a:pPr>
            <a:r>
              <a:rPr lang="en-US" sz="1300" spc="120" kern="0" dirty="0">
                <a:solidFill>
                  <a:srgbClr val="7A9A6A"/>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9464040" y="3246120"/>
            <a:ext cx="2377440" cy="502920"/>
          </a:xfrm>
          <a:prstGeom prst="rect">
            <a:avLst/>
          </a:prstGeom>
          <a:noFill/>
          <a:ln/>
        </p:spPr>
        <p:txBody>
          <a:bodyPr wrap="square" lIns="0" tIns="0" rIns="0" bIns="0" rtlCol="0" anchor="ctr"/>
          <a:lstStyle/>
          <a:p>
            <a:pPr indent="0" marL="0">
              <a:buNone/>
            </a:pPr>
            <a:r>
              <a:rPr lang="en-US" sz="2000" dirty="0">
                <a:solidFill>
                  <a:srgbClr val="EFE9D9"/>
                </a:solidFill>
                <a:latin typeface="Georgia" pitchFamily="34" charset="0"/>
                <a:ea typeface="Georgia" pitchFamily="34" charset="-122"/>
                <a:cs typeface="Georgia" pitchFamily="34" charset="-120"/>
              </a:rPr>
              <a:t>Rigueur</a:t>
            </a:r>
            <a:endParaRPr lang="en-US" sz="2000" dirty="0"/>
          </a:p>
        </p:txBody>
      </p:sp>
      <p:sp>
        <p:nvSpPr>
          <p:cNvPr id="23" name="Text 21"/>
          <p:cNvSpPr/>
          <p:nvPr/>
        </p:nvSpPr>
        <p:spPr>
          <a:xfrm>
            <a:off x="9464040" y="3931920"/>
            <a:ext cx="2377440" cy="1737360"/>
          </a:xfrm>
          <a:prstGeom prst="rect">
            <a:avLst/>
          </a:prstGeom>
          <a:noFill/>
          <a:ln/>
        </p:spPr>
        <p:txBody>
          <a:bodyPr wrap="square" lIns="0" tIns="0" rIns="0" bIns="0" rtlCol="0" anchor="ctr"/>
          <a:lstStyle/>
          <a:p>
            <a:pPr indent="0" marL="0">
              <a:buNone/>
            </a:pPr>
            <a:r>
              <a:rPr lang="en-US" sz="1500" dirty="0">
                <a:solidFill>
                  <a:srgbClr val="C9C4B4"/>
                </a:solidFill>
                <a:latin typeface="Calibri" pitchFamily="34" charset="0"/>
                <a:ea typeface="Calibri" pitchFamily="34" charset="-122"/>
                <a:cs typeface="Calibri" pitchFamily="34" charset="-120"/>
              </a:rPr>
              <a:t>Tests métier, Docker, honnêteté sur l'IA.</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4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6A33"/>
          </a:solidFill>
          <a:ln/>
        </p:spPr>
      </p:sp>
      <p:sp>
        <p:nvSpPr>
          <p:cNvPr id="3" name="Text 1"/>
          <p:cNvSpPr/>
          <p:nvPr/>
        </p:nvSpPr>
        <p:spPr>
          <a:xfrm>
            <a:off x="640080" y="1554480"/>
            <a:ext cx="10972800" cy="914400"/>
          </a:xfrm>
          <a:prstGeom prst="rect">
            <a:avLst/>
          </a:prstGeom>
          <a:noFill/>
          <a:ln/>
        </p:spPr>
        <p:txBody>
          <a:bodyPr wrap="square" lIns="0" tIns="0" rIns="0" bIns="0" rtlCol="0" anchor="ctr"/>
          <a:lstStyle/>
          <a:p>
            <a:pPr indent="0" marL="0">
              <a:buNone/>
            </a:pPr>
            <a:r>
              <a:rPr lang="en-US" sz="5600" dirty="0">
                <a:solidFill>
                  <a:srgbClr val="EFE9D9"/>
                </a:solidFill>
                <a:latin typeface="Georgia" pitchFamily="34" charset="0"/>
                <a:ea typeface="Georgia" pitchFamily="34" charset="-122"/>
                <a:cs typeface="Georgia" pitchFamily="34" charset="-120"/>
              </a:rPr>
              <a:t>MERCI</a:t>
            </a:r>
            <a:endParaRPr lang="en-US" sz="5600" dirty="0"/>
          </a:p>
        </p:txBody>
      </p:sp>
      <p:sp>
        <p:nvSpPr>
          <p:cNvPr id="4" name="Text 2"/>
          <p:cNvSpPr/>
          <p:nvPr/>
        </p:nvSpPr>
        <p:spPr>
          <a:xfrm>
            <a:off x="640080" y="2560320"/>
            <a:ext cx="10972800" cy="457200"/>
          </a:xfrm>
          <a:prstGeom prst="rect">
            <a:avLst/>
          </a:prstGeom>
          <a:noFill/>
          <a:ln/>
        </p:spPr>
        <p:txBody>
          <a:bodyPr wrap="square" lIns="0" tIns="0" rIns="0" bIns="0" rtlCol="0" anchor="ctr"/>
          <a:lstStyle/>
          <a:p>
            <a:pPr indent="0" marL="0">
              <a:buNone/>
            </a:pPr>
            <a:r>
              <a:rPr lang="en-US" sz="2200" i="1" dirty="0">
                <a:solidFill>
                  <a:srgbClr val="D48A5B"/>
                </a:solidFill>
                <a:latin typeface="Georgia" pitchFamily="34" charset="0"/>
                <a:ea typeface="Georgia" pitchFamily="34" charset="-122"/>
                <a:cs typeface="Georgia" pitchFamily="34" charset="-120"/>
              </a:rPr>
              <a:t>Questions du jury.</a:t>
            </a:r>
            <a:endParaRPr lang="en-US" sz="2200" dirty="0"/>
          </a:p>
        </p:txBody>
      </p:sp>
      <p:sp>
        <p:nvSpPr>
          <p:cNvPr id="5" name="Shape 3"/>
          <p:cNvSpPr/>
          <p:nvPr/>
        </p:nvSpPr>
        <p:spPr>
          <a:xfrm>
            <a:off x="640080" y="3246120"/>
            <a:ext cx="4754880" cy="0"/>
          </a:xfrm>
          <a:prstGeom prst="line">
            <a:avLst/>
          </a:prstGeom>
          <a:noFill/>
          <a:ln w="9525">
            <a:solidFill>
              <a:srgbClr val="2A3530"/>
            </a:solidFill>
            <a:prstDash val="solid"/>
          </a:ln>
        </p:spPr>
      </p:sp>
      <p:sp>
        <p:nvSpPr>
          <p:cNvPr id="6" name="Text 4"/>
          <p:cNvSpPr/>
          <p:nvPr/>
        </p:nvSpPr>
        <p:spPr>
          <a:xfrm>
            <a:off x="640080" y="3520440"/>
            <a:ext cx="10058400" cy="1554480"/>
          </a:xfrm>
          <a:prstGeom prst="rect">
            <a:avLst/>
          </a:prstGeom>
          <a:noFill/>
          <a:ln/>
        </p:spPr>
        <p:txBody>
          <a:bodyPr wrap="square" lIns="0" tIns="0" rIns="0" bIns="0" rtlCol="0" anchor="ctr"/>
          <a:lstStyle/>
          <a:p>
            <a:pPr indent="0" marL="0">
              <a:buNone/>
            </a:pPr>
            <a:r>
              <a:rPr lang="en-US" sz="1600" dirty="0">
                <a:solidFill>
                  <a:srgbClr val="C9C4B4"/>
                </a:solidFill>
                <a:latin typeface="Calibri" pitchFamily="34" charset="0"/>
                <a:ea typeface="Calibri" pitchFamily="34" charset="-122"/>
                <a:cs typeface="Calibri" pitchFamily="34" charset="-120"/>
              </a:rPr>
              <a:t>FanConnect 2030  ·  Soutenance PFE 5DLTI</a:t>
            </a:r>
            <a:endParaRPr lang="en-US" sz="1600" dirty="0"/>
          </a:p>
          <a:p>
            <a:pPr indent="0" marL="0">
              <a:buNone/>
            </a:pPr>
            <a:r>
              <a:rPr lang="en-US" sz="1600" dirty="0">
                <a:solidFill>
                  <a:srgbClr val="C9C4B4"/>
                </a:solidFill>
                <a:latin typeface="Calibri" pitchFamily="34" charset="0"/>
                <a:ea typeface="Calibri" pitchFamily="34" charset="-122"/>
                <a:cs typeface="Calibri" pitchFamily="34" charset="-120"/>
              </a:rPr>
              <a:t>Présenté par Kassimi</a:t>
            </a:r>
            <a:endParaRPr lang="en-US" sz="1600" dirty="0"/>
          </a:p>
          <a:p>
            <a:pPr indent="0" marL="0">
              <a:buNone/>
            </a:pPr>
            <a:r>
              <a:rPr lang="en-US" sz="1600" dirty="0">
                <a:solidFill>
                  <a:srgbClr val="C9C4B4"/>
                </a:solidFill>
                <a:latin typeface="Calibri" pitchFamily="34" charset="0"/>
                <a:ea typeface="Calibri" pitchFamily="34" charset="-122"/>
                <a:cs typeface="Calibri" pitchFamily="34" charset="-120"/>
              </a:rPr>
              <a:t>Encadrant académique : M. Bouchib Riyami</a:t>
            </a:r>
            <a:endParaRPr lang="en-US" sz="1600" dirty="0"/>
          </a:p>
          <a:p>
            <a:pPr indent="0" marL="0">
              <a:buNone/>
            </a:pPr>
            <a:r>
              <a:rPr lang="en-US" sz="1600" dirty="0">
                <a:solidFill>
                  <a:srgbClr val="C9C4B4"/>
                </a:solidFill>
                <a:latin typeface="Calibri" pitchFamily="34" charset="0"/>
                <a:ea typeface="Calibri" pitchFamily="34" charset="-122"/>
                <a:cs typeface="Calibri" pitchFamily="34" charset="-120"/>
              </a:rPr>
              <a:t>Organisme : GM-Soft  ·  Béni Mellal  ·  2025 / 2026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FanConnect 2030</dc:title>
  <dc:subject>Soutenance de Projet de Fin d'Études 2025/2026</dc:subject>
  <dc:creator>Kassimi — 5DLTI — IGA</dc:creator>
  <cp:lastModifiedBy>Kassimi — 5DLTI — IGA</cp:lastModifiedBy>
  <cp:revision>1</cp:revision>
  <dcterms:created xsi:type="dcterms:W3CDTF">2026-10-25T08:41:10Z</dcterms:created>
  <dcterms:modified xsi:type="dcterms:W3CDTF">2026-10-25T08:41:10Z</dcterms:modified>
</cp:coreProperties>
</file>